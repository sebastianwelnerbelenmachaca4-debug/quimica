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3" r:id="rId3"/>
    <p:sldId id="274" r:id="rId4"/>
  </p:sldIdLst>
  <p:sldSz cx="7772400" cy="100584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AAE"/>
    <a:srgbClr val="52BDB3"/>
    <a:srgbClr val="FCA5A1"/>
    <a:srgbClr val="B19D9D"/>
    <a:srgbClr val="E7E1E1"/>
    <a:srgbClr val="FC9573"/>
    <a:srgbClr val="FEE9E2"/>
    <a:srgbClr val="CCECE9"/>
    <a:srgbClr val="FFF0EF"/>
    <a:srgbClr val="FED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2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F98D6-0D7F-4E3A-BD03-A7C370DC3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133"/>
            <a:ext cx="5829300" cy="3501813"/>
          </a:xfrm>
        </p:spPr>
        <p:txBody>
          <a:bodyPr anchor="b"/>
          <a:lstStyle>
            <a:lvl1pPr algn="ctr">
              <a:defRPr sz="3825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7D3863-2DB2-489D-B7C1-763B6808A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1530"/>
            </a:lvl1pPr>
            <a:lvl2pPr marL="291465" indent="0" algn="ctr">
              <a:buNone/>
              <a:defRPr sz="1275"/>
            </a:lvl2pPr>
            <a:lvl3pPr marL="582930" indent="0" algn="ctr">
              <a:buNone/>
              <a:defRPr sz="1148"/>
            </a:lvl3pPr>
            <a:lvl4pPr marL="874395" indent="0" algn="ctr">
              <a:buNone/>
              <a:defRPr sz="1020"/>
            </a:lvl4pPr>
            <a:lvl5pPr marL="1165860" indent="0" algn="ctr">
              <a:buNone/>
              <a:defRPr sz="1020"/>
            </a:lvl5pPr>
            <a:lvl6pPr marL="1457325" indent="0" algn="ctr">
              <a:buNone/>
              <a:defRPr sz="1020"/>
            </a:lvl6pPr>
            <a:lvl7pPr marL="1748790" indent="0" algn="ctr">
              <a:buNone/>
              <a:defRPr sz="1020"/>
            </a:lvl7pPr>
            <a:lvl8pPr marL="2040255" indent="0" algn="ctr">
              <a:buNone/>
              <a:defRPr sz="1020"/>
            </a:lvl8pPr>
            <a:lvl9pPr marL="2331720" indent="0" algn="ctr">
              <a:buNone/>
              <a:defRPr sz="102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121E96-B32F-439C-B53D-876163E0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A6ED6-1A95-4D42-809A-B0F6888D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7B72B-C9BA-466E-9CE1-CC4A3AD0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454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3B3A2-6B7B-4753-80A2-904EA50B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45D37-028E-45B6-BACF-8CEB01CA3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9A1D6F-9FF1-449D-A72E-31F2A11E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B3047-D385-47BA-B01E-5B07EEE7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7E588D-5186-4860-9768-04623086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873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A907F-5F6E-4D0E-9690-46BB4FA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4" y="2507617"/>
            <a:ext cx="6703695" cy="4184014"/>
          </a:xfrm>
        </p:spPr>
        <p:txBody>
          <a:bodyPr anchor="b"/>
          <a:lstStyle>
            <a:lvl1pPr>
              <a:defRPr sz="3825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697A26-3AB8-43B7-A6E3-3F2C61254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04" y="6731213"/>
            <a:ext cx="6703695" cy="2200274"/>
          </a:xfrm>
        </p:spPr>
        <p:txBody>
          <a:bodyPr/>
          <a:lstStyle>
            <a:lvl1pPr marL="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1pPr>
            <a:lvl2pPr marL="291465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2pPr>
            <a:lvl3pPr marL="582930" indent="0">
              <a:buNone/>
              <a:defRPr sz="1148">
                <a:solidFill>
                  <a:schemeClr val="tx1">
                    <a:tint val="75000"/>
                  </a:schemeClr>
                </a:solidFill>
              </a:defRPr>
            </a:lvl3pPr>
            <a:lvl4pPr marL="87439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4pPr>
            <a:lvl5pPr marL="116586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5pPr>
            <a:lvl6pPr marL="145732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6pPr>
            <a:lvl7pPr marL="174879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7pPr>
            <a:lvl8pPr marL="204025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8pPr>
            <a:lvl9pPr marL="233172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FC3EE5-9A9D-43E2-AB7A-1DAF6037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B409FA-8A22-4B49-AC46-0A0015823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B22E32-D38D-4D79-BE1E-6D4C20BA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287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5AF0A-512F-4321-8855-989CFBD8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8682FB-D30A-4966-8EA8-0DEEE08D8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0B1F38-65C8-476B-AA2F-98B9B3EED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77F16B-D8FF-42CD-A769-6D5E0041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E75188-63DD-48FE-B362-4ECA1BC7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FD353D-AD27-4FD5-8F56-B3BD49FC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078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7B13F-95D6-47D0-92B9-0E5AC193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65" y="535517"/>
            <a:ext cx="6703695" cy="194415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C34D5C-85C1-49EF-954D-C33CE0BF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365" y="2465706"/>
            <a:ext cx="3288089" cy="1208404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5C030B-E473-4359-A135-0FA5F3DC2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365" y="3674110"/>
            <a:ext cx="3288089" cy="54040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12152-4A31-4176-9066-3A3000A44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DFE187-7E5D-44F9-B129-1BD45397D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877A78-42D9-4E38-BFFF-C1CAA561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A291B8A-3232-4856-A511-E3D017CD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42EA73-2E7D-4D56-BDC1-E2C504B6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437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88A14-66DA-44DB-9D4C-3A788FA6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718B03-ACFC-42EB-9D42-8500C38E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03E64A-228C-4174-B672-C1D1CDE5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741DCB-D0F6-45A8-BAA8-F2061FD2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482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D62F76-0C7E-4C39-A50A-1C0C27937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70C0E6-54E2-45DD-A4A1-6BDBBCAD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71E084-96C5-4D99-BE33-83ED038E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056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A4DEA-A271-47A5-925D-69430B28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3EFE91-AE65-4424-897E-FF2A17ACA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4282" y="1448224"/>
            <a:ext cx="3934778" cy="7147983"/>
          </a:xfrm>
        </p:spPr>
        <p:txBody>
          <a:bodyPr/>
          <a:lstStyle>
            <a:lvl1pPr>
              <a:defRPr sz="2040"/>
            </a:lvl1pPr>
            <a:lvl2pPr>
              <a:defRPr sz="1785"/>
            </a:lvl2pPr>
            <a:lvl3pPr>
              <a:defRPr sz="1530"/>
            </a:lvl3pPr>
            <a:lvl4pPr>
              <a:defRPr sz="1275"/>
            </a:lvl4pPr>
            <a:lvl5pPr>
              <a:defRPr sz="1275"/>
            </a:lvl5pPr>
            <a:lvl6pPr>
              <a:defRPr sz="1275"/>
            </a:lvl6pPr>
            <a:lvl7pPr>
              <a:defRPr sz="1275"/>
            </a:lvl7pPr>
            <a:lvl8pPr>
              <a:defRPr sz="1275"/>
            </a:lvl8pPr>
            <a:lvl9pPr>
              <a:defRPr sz="12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32A5E3-5446-4837-9FC3-774F358D2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78B520-FD79-48EA-BCF4-B3A445F5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53E11A-89B9-4839-AA10-A20E5D3E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A7A775-86DC-4010-92DA-05BCAAD9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542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6403B-2F9D-4EAA-9817-8A381A3A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11251E-9674-435D-822A-CA31CFE30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04282" y="1448224"/>
            <a:ext cx="3934778" cy="7147983"/>
          </a:xfrm>
        </p:spPr>
        <p:txBody>
          <a:bodyPr/>
          <a:lstStyle>
            <a:lvl1pPr marL="0" indent="0">
              <a:buNone/>
              <a:defRPr sz="2040"/>
            </a:lvl1pPr>
            <a:lvl2pPr marL="291465" indent="0">
              <a:buNone/>
              <a:defRPr sz="1785"/>
            </a:lvl2pPr>
            <a:lvl3pPr marL="582930" indent="0">
              <a:buNone/>
              <a:defRPr sz="1530"/>
            </a:lvl3pPr>
            <a:lvl4pPr marL="874395" indent="0">
              <a:buNone/>
              <a:defRPr sz="1275"/>
            </a:lvl4pPr>
            <a:lvl5pPr marL="1165860" indent="0">
              <a:buNone/>
              <a:defRPr sz="1275"/>
            </a:lvl5pPr>
            <a:lvl6pPr marL="1457325" indent="0">
              <a:buNone/>
              <a:defRPr sz="1275"/>
            </a:lvl6pPr>
            <a:lvl7pPr marL="1748790" indent="0">
              <a:buNone/>
              <a:defRPr sz="1275"/>
            </a:lvl7pPr>
            <a:lvl8pPr marL="2040255" indent="0">
              <a:buNone/>
              <a:defRPr sz="1275"/>
            </a:lvl8pPr>
            <a:lvl9pPr marL="2331720" indent="0">
              <a:buNone/>
              <a:defRPr sz="1275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367D65-3845-41DF-912F-68AB9E1AD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A08B4E-A053-4D05-94F6-BA6733E7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8B66A6-AB60-4933-9BA5-487DB047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6CEC02-BB77-4F61-9084-B8BDF6A1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559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47E78-6B11-45CE-87C8-C3ED2F42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DBAD7D-2666-496F-BF5D-252196E54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2A5EC5-6869-4A6C-9B87-60703998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D6489A-B71F-4BFB-947D-23F3EC28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6F54E5-1D04-4973-983F-3263BDF0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493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D3491C-D9FB-4A35-82F2-B15457630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236103-27D6-4B4A-A557-57DA62D65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F0B914-271D-46D1-A51C-316DA23E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AF4590-59FF-4210-B375-8DFD724E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FB56A-2B8D-45CA-A897-36E3F901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348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F2EF8D-0023-4ADF-A647-53580547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9BBC5D-CEEF-4F71-AAFA-3A5BE1E79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867C3-DEA3-4755-9DF6-CDE9273AA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1840A-56A0-47EC-9550-08EC33437626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CA0EB3-4C2A-46FE-97E9-A4A87A0C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0C94B2-E3B9-4408-B5C6-8E9BA0885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1C424-5A3B-4742-A82E-8F2A4D8E831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857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82930" rtl="0" eaLnBrk="1" latinLnBrk="0" hangingPunct="1">
        <a:lnSpc>
          <a:spcPct val="90000"/>
        </a:lnSpc>
        <a:spcBef>
          <a:spcPct val="0"/>
        </a:spcBef>
        <a:buNone/>
        <a:defRPr sz="28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5733" indent="-145733" algn="l" defTabSz="582930" rtl="0" eaLnBrk="1" latinLnBrk="0" hangingPunct="1">
        <a:lnSpc>
          <a:spcPct val="90000"/>
        </a:lnSpc>
        <a:spcBef>
          <a:spcPts val="638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1pPr>
      <a:lvl2pPr marL="43719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2866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012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31159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60305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89452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18598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47745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146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8293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7439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5732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4879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4025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7FE5C485-D3BF-448B-A63C-102DF07BD491}"/>
              </a:ext>
            </a:extLst>
          </p:cNvPr>
          <p:cNvSpPr/>
          <p:nvPr/>
        </p:nvSpPr>
        <p:spPr>
          <a:xfrm>
            <a:off x="258564" y="3728760"/>
            <a:ext cx="7291775" cy="13004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EEEF895D-C2D5-4760-A8CD-5EFAD2E96886}"/>
              </a:ext>
            </a:extLst>
          </p:cNvPr>
          <p:cNvSpPr/>
          <p:nvPr/>
        </p:nvSpPr>
        <p:spPr>
          <a:xfrm>
            <a:off x="836326" y="-207304"/>
            <a:ext cx="6245759" cy="3848529"/>
          </a:xfrm>
          <a:custGeom>
            <a:avLst/>
            <a:gdLst>
              <a:gd name="connsiteX0" fmla="*/ 2533407 w 6245759"/>
              <a:gd name="connsiteY0" fmla="*/ 596771 h 3848529"/>
              <a:gd name="connsiteX1" fmla="*/ 2601141 w 6245759"/>
              <a:gd name="connsiteY1" fmla="*/ 224237 h 3848529"/>
              <a:gd name="connsiteX2" fmla="*/ 3210741 w 6245759"/>
              <a:gd name="connsiteY2" fmla="*/ 21037 h 3848529"/>
              <a:gd name="connsiteX3" fmla="*/ 3464741 w 6245759"/>
              <a:gd name="connsiteY3" fmla="*/ 732237 h 3848529"/>
              <a:gd name="connsiteX4" fmla="*/ 4429941 w 6245759"/>
              <a:gd name="connsiteY4" fmla="*/ 342771 h 3848529"/>
              <a:gd name="connsiteX5" fmla="*/ 5208874 w 6245759"/>
              <a:gd name="connsiteY5" fmla="*/ 495171 h 3848529"/>
              <a:gd name="connsiteX6" fmla="*/ 4921007 w 6245759"/>
              <a:gd name="connsiteY6" fmla="*/ 1257171 h 3848529"/>
              <a:gd name="connsiteX7" fmla="*/ 5953941 w 6245759"/>
              <a:gd name="connsiteY7" fmla="*/ 1748237 h 3848529"/>
              <a:gd name="connsiteX8" fmla="*/ 6224874 w 6245759"/>
              <a:gd name="connsiteY8" fmla="*/ 2137704 h 3848529"/>
              <a:gd name="connsiteX9" fmla="*/ 5513674 w 6245759"/>
              <a:gd name="connsiteY9" fmla="*/ 2459437 h 3848529"/>
              <a:gd name="connsiteX10" fmla="*/ 5395141 w 6245759"/>
              <a:gd name="connsiteY10" fmla="*/ 3373837 h 3848529"/>
              <a:gd name="connsiteX11" fmla="*/ 4226741 w 6245759"/>
              <a:gd name="connsiteY11" fmla="*/ 2916637 h 3848529"/>
              <a:gd name="connsiteX12" fmla="*/ 3617141 w 6245759"/>
              <a:gd name="connsiteY12" fmla="*/ 3644771 h 3848529"/>
              <a:gd name="connsiteX13" fmla="*/ 2855141 w 6245759"/>
              <a:gd name="connsiteY13" fmla="*/ 2798104 h 3848529"/>
              <a:gd name="connsiteX14" fmla="*/ 2228607 w 6245759"/>
              <a:gd name="connsiteY14" fmla="*/ 3847971 h 3848529"/>
              <a:gd name="connsiteX15" fmla="*/ 1398874 w 6245759"/>
              <a:gd name="connsiteY15" fmla="*/ 2950504 h 3848529"/>
              <a:gd name="connsiteX16" fmla="*/ 484474 w 6245759"/>
              <a:gd name="connsiteY16" fmla="*/ 3407704 h 3848529"/>
              <a:gd name="connsiteX17" fmla="*/ 95007 w 6245759"/>
              <a:gd name="connsiteY17" fmla="*/ 3001304 h 3848529"/>
              <a:gd name="connsiteX18" fmla="*/ 603007 w 6245759"/>
              <a:gd name="connsiteY18" fmla="*/ 2239304 h 3848529"/>
              <a:gd name="connsiteX19" fmla="*/ 10341 w 6245759"/>
              <a:gd name="connsiteY19" fmla="*/ 1494237 h 3848529"/>
              <a:gd name="connsiteX20" fmla="*/ 1212607 w 6245759"/>
              <a:gd name="connsiteY20" fmla="*/ 1341837 h 3848529"/>
              <a:gd name="connsiteX21" fmla="*/ 1043274 w 6245759"/>
              <a:gd name="connsiteY21" fmla="*/ 579837 h 3848529"/>
              <a:gd name="connsiteX22" fmla="*/ 1246474 w 6245759"/>
              <a:gd name="connsiteY22" fmla="*/ 139571 h 3848529"/>
              <a:gd name="connsiteX23" fmla="*/ 2516474 w 6245759"/>
              <a:gd name="connsiteY23" fmla="*/ 664504 h 3848529"/>
              <a:gd name="connsiteX24" fmla="*/ 2533407 w 6245759"/>
              <a:gd name="connsiteY24" fmla="*/ 596771 h 384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245759" h="3848529">
                <a:moveTo>
                  <a:pt x="2533407" y="596771"/>
                </a:moveTo>
                <a:cubicBezTo>
                  <a:pt x="2547518" y="523393"/>
                  <a:pt x="2488252" y="320193"/>
                  <a:pt x="2601141" y="224237"/>
                </a:cubicBezTo>
                <a:cubicBezTo>
                  <a:pt x="2714030" y="128281"/>
                  <a:pt x="3066808" y="-63630"/>
                  <a:pt x="3210741" y="21037"/>
                </a:cubicBezTo>
                <a:cubicBezTo>
                  <a:pt x="3354674" y="105704"/>
                  <a:pt x="3261541" y="678615"/>
                  <a:pt x="3464741" y="732237"/>
                </a:cubicBezTo>
                <a:cubicBezTo>
                  <a:pt x="3667941" y="785859"/>
                  <a:pt x="4139252" y="382282"/>
                  <a:pt x="4429941" y="342771"/>
                </a:cubicBezTo>
                <a:cubicBezTo>
                  <a:pt x="4720630" y="303260"/>
                  <a:pt x="5127030" y="342771"/>
                  <a:pt x="5208874" y="495171"/>
                </a:cubicBezTo>
                <a:cubicBezTo>
                  <a:pt x="5290718" y="647571"/>
                  <a:pt x="4796829" y="1048327"/>
                  <a:pt x="4921007" y="1257171"/>
                </a:cubicBezTo>
                <a:cubicBezTo>
                  <a:pt x="5045185" y="1466015"/>
                  <a:pt x="5736630" y="1601482"/>
                  <a:pt x="5953941" y="1748237"/>
                </a:cubicBezTo>
                <a:cubicBezTo>
                  <a:pt x="6171252" y="1894992"/>
                  <a:pt x="6298252" y="2019171"/>
                  <a:pt x="6224874" y="2137704"/>
                </a:cubicBezTo>
                <a:cubicBezTo>
                  <a:pt x="6151496" y="2256237"/>
                  <a:pt x="5651963" y="2253415"/>
                  <a:pt x="5513674" y="2459437"/>
                </a:cubicBezTo>
                <a:cubicBezTo>
                  <a:pt x="5375385" y="2665459"/>
                  <a:pt x="5609630" y="3297637"/>
                  <a:pt x="5395141" y="3373837"/>
                </a:cubicBezTo>
                <a:cubicBezTo>
                  <a:pt x="5180652" y="3450037"/>
                  <a:pt x="4523074" y="2871481"/>
                  <a:pt x="4226741" y="2916637"/>
                </a:cubicBezTo>
                <a:cubicBezTo>
                  <a:pt x="3930408" y="2961793"/>
                  <a:pt x="3845741" y="3664526"/>
                  <a:pt x="3617141" y="3644771"/>
                </a:cubicBezTo>
                <a:cubicBezTo>
                  <a:pt x="3388541" y="3625016"/>
                  <a:pt x="3086563" y="2764237"/>
                  <a:pt x="2855141" y="2798104"/>
                </a:cubicBezTo>
                <a:cubicBezTo>
                  <a:pt x="2623719" y="2831971"/>
                  <a:pt x="2471318" y="3822571"/>
                  <a:pt x="2228607" y="3847971"/>
                </a:cubicBezTo>
                <a:cubicBezTo>
                  <a:pt x="1985896" y="3873371"/>
                  <a:pt x="1689563" y="3023882"/>
                  <a:pt x="1398874" y="2950504"/>
                </a:cubicBezTo>
                <a:cubicBezTo>
                  <a:pt x="1108185" y="2877126"/>
                  <a:pt x="701785" y="3399237"/>
                  <a:pt x="484474" y="3407704"/>
                </a:cubicBezTo>
                <a:cubicBezTo>
                  <a:pt x="267163" y="3416171"/>
                  <a:pt x="75252" y="3196037"/>
                  <a:pt x="95007" y="3001304"/>
                </a:cubicBezTo>
                <a:cubicBezTo>
                  <a:pt x="114762" y="2806571"/>
                  <a:pt x="617118" y="2490482"/>
                  <a:pt x="603007" y="2239304"/>
                </a:cubicBezTo>
                <a:cubicBezTo>
                  <a:pt x="588896" y="1988126"/>
                  <a:pt x="-91259" y="1643815"/>
                  <a:pt x="10341" y="1494237"/>
                </a:cubicBezTo>
                <a:cubicBezTo>
                  <a:pt x="111941" y="1344659"/>
                  <a:pt x="1040452" y="1494237"/>
                  <a:pt x="1212607" y="1341837"/>
                </a:cubicBezTo>
                <a:cubicBezTo>
                  <a:pt x="1384762" y="1189437"/>
                  <a:pt x="1037630" y="780215"/>
                  <a:pt x="1043274" y="579837"/>
                </a:cubicBezTo>
                <a:cubicBezTo>
                  <a:pt x="1048918" y="379459"/>
                  <a:pt x="1000941" y="125460"/>
                  <a:pt x="1246474" y="139571"/>
                </a:cubicBezTo>
                <a:cubicBezTo>
                  <a:pt x="1492007" y="153682"/>
                  <a:pt x="2296341" y="582660"/>
                  <a:pt x="2516474" y="664504"/>
                </a:cubicBezTo>
                <a:cubicBezTo>
                  <a:pt x="2736607" y="746348"/>
                  <a:pt x="2519296" y="670149"/>
                  <a:pt x="2533407" y="596771"/>
                </a:cubicBezTo>
                <a:close/>
              </a:path>
            </a:pathLst>
          </a:custGeom>
          <a:solidFill>
            <a:srgbClr val="EDE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E94D05-DE92-4C74-ABAD-3ECF039B9D92}"/>
              </a:ext>
            </a:extLst>
          </p:cNvPr>
          <p:cNvSpPr txBox="1"/>
          <p:nvPr/>
        </p:nvSpPr>
        <p:spPr>
          <a:xfrm>
            <a:off x="2140085" y="846493"/>
            <a:ext cx="3891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Keisya" panose="02000500000000000000" pitchFamily="2" charset="0"/>
              </a:rPr>
              <a:t> Guía de Primeros Auxilios  Determinación de la Relación Estequiométrica entre el Magnesio y el Oxígeno</a:t>
            </a:r>
            <a:r>
              <a:rPr lang="es-419" sz="2400" dirty="0">
                <a:latin typeface="Keisya" panose="02000500000000000000" pitchFamily="2" charset="0"/>
              </a:rPr>
              <a:t> </a:t>
            </a:r>
            <a:endParaRPr lang="es-MX" sz="2400" dirty="0">
              <a:latin typeface="Keisya" panose="02000500000000000000" pitchFamily="2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C91FEC7-152C-4B47-92B8-54882A2DD165}"/>
              </a:ext>
            </a:extLst>
          </p:cNvPr>
          <p:cNvSpPr/>
          <p:nvPr/>
        </p:nvSpPr>
        <p:spPr>
          <a:xfrm>
            <a:off x="222062" y="3742122"/>
            <a:ext cx="7203144" cy="1104152"/>
          </a:xfrm>
          <a:prstGeom prst="rect">
            <a:avLst/>
          </a:prstGeom>
          <a:solidFill>
            <a:schemeClr val="bg1"/>
          </a:solidFill>
          <a:ln w="38100">
            <a:solidFill>
              <a:srgbClr val="52BD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79A232A-3F38-46FC-8611-DFB57B6FF173}"/>
              </a:ext>
            </a:extLst>
          </p:cNvPr>
          <p:cNvSpPr txBox="1"/>
          <p:nvPr/>
        </p:nvSpPr>
        <p:spPr>
          <a:xfrm>
            <a:off x="258564" y="3777727"/>
            <a:ext cx="7130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latin typeface="Hastoler" panose="02000500000000000000" pitchFamily="2" charset="0"/>
              </a:rPr>
              <a:t>1. Título y propósito del experimento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EEFD444-1028-4E21-B285-47B39DEAE663}"/>
              </a:ext>
            </a:extLst>
          </p:cNvPr>
          <p:cNvSpPr txBox="1"/>
          <p:nvPr/>
        </p:nvSpPr>
        <p:spPr>
          <a:xfrm>
            <a:off x="204764" y="5520110"/>
            <a:ext cx="290176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u="sng" dirty="0">
                <a:latin typeface="Hastoler" panose="02000500000000000000" pitchFamily="2" charset="0"/>
              </a:rPr>
              <a:t>2.Riesgos generales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MX" sz="2000" dirty="0">
                <a:latin typeface="Hastoler" panose="02000500000000000000" pitchFamily="2" charset="0"/>
              </a:rPr>
              <a:t>Riesgo de quemaduras por la flama o el crisol caliente.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MX" sz="2000" dirty="0">
                <a:latin typeface="Hastoler" panose="02000500000000000000" pitchFamily="2" charset="0"/>
              </a:rPr>
              <a:t>Riesgo ocular por el brillo intenso de la combustión del magnesio.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MX" sz="2000" dirty="0">
                <a:latin typeface="Hastoler" panose="02000500000000000000" pitchFamily="2" charset="0"/>
              </a:rPr>
              <a:t>Riesgo de inhalación de humo o vapores.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MX" sz="2000" dirty="0">
                <a:latin typeface="Hastoler" panose="02000500000000000000" pitchFamily="2" charset="0"/>
              </a:rPr>
              <a:t>Riesgo de contacto con superficies muy calientes</a:t>
            </a:r>
            <a:r>
              <a:rPr lang="es-MX" sz="1050" dirty="0">
                <a:latin typeface="Hastoler" panose="02000500000000000000" pitchFamily="2" charset="0"/>
              </a:rPr>
              <a:t>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256513E-90B7-4DEE-AA25-6A64E9CAA0A0}"/>
              </a:ext>
            </a:extLst>
          </p:cNvPr>
          <p:cNvSpPr txBox="1"/>
          <p:nvPr/>
        </p:nvSpPr>
        <p:spPr>
          <a:xfrm>
            <a:off x="3380802" y="5520110"/>
            <a:ext cx="41868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b="1" u="sng" dirty="0">
                <a:latin typeface="Hastoler" panose="02000500000000000000" pitchFamily="2" charset="0"/>
              </a:rPr>
              <a:t>Nombre: </a:t>
            </a:r>
            <a:r>
              <a:rPr lang="es-MX" sz="2800" dirty="0">
                <a:latin typeface="Hastoler" panose="02000500000000000000" pitchFamily="2" charset="0"/>
              </a:rPr>
              <a:t>Determinación de la relación estequiométrica entre el magnesio y el oxígeno.</a:t>
            </a:r>
          </a:p>
          <a:p>
            <a:pPr algn="just"/>
            <a:r>
              <a:rPr lang="es-MX" sz="2800" b="1" u="sng" dirty="0" err="1">
                <a:latin typeface="Hastoler" panose="02000500000000000000" pitchFamily="2" charset="0"/>
              </a:rPr>
              <a:t>Propósito:</a:t>
            </a:r>
            <a:r>
              <a:rPr lang="es-MX" sz="2800" dirty="0" err="1">
                <a:latin typeface="Hastoler" panose="02000500000000000000" pitchFamily="2" charset="0"/>
              </a:rPr>
              <a:t>Comprobar</a:t>
            </a:r>
            <a:r>
              <a:rPr lang="es-MX" sz="2800" dirty="0">
                <a:latin typeface="Hastoler" panose="02000500000000000000" pitchFamily="2" charset="0"/>
              </a:rPr>
              <a:t> la proporción en que el magnesio reacciona con el oxígeno al calentarse, formando óxido de magnesio (MgO).</a:t>
            </a:r>
          </a:p>
        </p:txBody>
      </p:sp>
    </p:spTree>
    <p:extLst>
      <p:ext uri="{BB962C8B-B14F-4D97-AF65-F5344CB8AC3E}">
        <p14:creationId xmlns:p14="http://schemas.microsoft.com/office/powerpoint/2010/main" val="319195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7FE5C485-D3BF-448B-A63C-102DF07BD491}"/>
              </a:ext>
            </a:extLst>
          </p:cNvPr>
          <p:cNvSpPr/>
          <p:nvPr/>
        </p:nvSpPr>
        <p:spPr>
          <a:xfrm>
            <a:off x="258564" y="3728760"/>
            <a:ext cx="7291775" cy="13004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EEEF895D-C2D5-4760-A8CD-5EFAD2E96886}"/>
              </a:ext>
            </a:extLst>
          </p:cNvPr>
          <p:cNvSpPr/>
          <p:nvPr/>
        </p:nvSpPr>
        <p:spPr>
          <a:xfrm>
            <a:off x="836326" y="-207304"/>
            <a:ext cx="6245759" cy="3848529"/>
          </a:xfrm>
          <a:custGeom>
            <a:avLst/>
            <a:gdLst>
              <a:gd name="connsiteX0" fmla="*/ 2533407 w 6245759"/>
              <a:gd name="connsiteY0" fmla="*/ 596771 h 3848529"/>
              <a:gd name="connsiteX1" fmla="*/ 2601141 w 6245759"/>
              <a:gd name="connsiteY1" fmla="*/ 224237 h 3848529"/>
              <a:gd name="connsiteX2" fmla="*/ 3210741 w 6245759"/>
              <a:gd name="connsiteY2" fmla="*/ 21037 h 3848529"/>
              <a:gd name="connsiteX3" fmla="*/ 3464741 w 6245759"/>
              <a:gd name="connsiteY3" fmla="*/ 732237 h 3848529"/>
              <a:gd name="connsiteX4" fmla="*/ 4429941 w 6245759"/>
              <a:gd name="connsiteY4" fmla="*/ 342771 h 3848529"/>
              <a:gd name="connsiteX5" fmla="*/ 5208874 w 6245759"/>
              <a:gd name="connsiteY5" fmla="*/ 495171 h 3848529"/>
              <a:gd name="connsiteX6" fmla="*/ 4921007 w 6245759"/>
              <a:gd name="connsiteY6" fmla="*/ 1257171 h 3848529"/>
              <a:gd name="connsiteX7" fmla="*/ 5953941 w 6245759"/>
              <a:gd name="connsiteY7" fmla="*/ 1748237 h 3848529"/>
              <a:gd name="connsiteX8" fmla="*/ 6224874 w 6245759"/>
              <a:gd name="connsiteY8" fmla="*/ 2137704 h 3848529"/>
              <a:gd name="connsiteX9" fmla="*/ 5513674 w 6245759"/>
              <a:gd name="connsiteY9" fmla="*/ 2459437 h 3848529"/>
              <a:gd name="connsiteX10" fmla="*/ 5395141 w 6245759"/>
              <a:gd name="connsiteY10" fmla="*/ 3373837 h 3848529"/>
              <a:gd name="connsiteX11" fmla="*/ 4226741 w 6245759"/>
              <a:gd name="connsiteY11" fmla="*/ 2916637 h 3848529"/>
              <a:gd name="connsiteX12" fmla="*/ 3617141 w 6245759"/>
              <a:gd name="connsiteY12" fmla="*/ 3644771 h 3848529"/>
              <a:gd name="connsiteX13" fmla="*/ 2855141 w 6245759"/>
              <a:gd name="connsiteY13" fmla="*/ 2798104 h 3848529"/>
              <a:gd name="connsiteX14" fmla="*/ 2228607 w 6245759"/>
              <a:gd name="connsiteY14" fmla="*/ 3847971 h 3848529"/>
              <a:gd name="connsiteX15" fmla="*/ 1398874 w 6245759"/>
              <a:gd name="connsiteY15" fmla="*/ 2950504 h 3848529"/>
              <a:gd name="connsiteX16" fmla="*/ 484474 w 6245759"/>
              <a:gd name="connsiteY16" fmla="*/ 3407704 h 3848529"/>
              <a:gd name="connsiteX17" fmla="*/ 95007 w 6245759"/>
              <a:gd name="connsiteY17" fmla="*/ 3001304 h 3848529"/>
              <a:gd name="connsiteX18" fmla="*/ 603007 w 6245759"/>
              <a:gd name="connsiteY18" fmla="*/ 2239304 h 3848529"/>
              <a:gd name="connsiteX19" fmla="*/ 10341 w 6245759"/>
              <a:gd name="connsiteY19" fmla="*/ 1494237 h 3848529"/>
              <a:gd name="connsiteX20" fmla="*/ 1212607 w 6245759"/>
              <a:gd name="connsiteY20" fmla="*/ 1341837 h 3848529"/>
              <a:gd name="connsiteX21" fmla="*/ 1043274 w 6245759"/>
              <a:gd name="connsiteY21" fmla="*/ 579837 h 3848529"/>
              <a:gd name="connsiteX22" fmla="*/ 1246474 w 6245759"/>
              <a:gd name="connsiteY22" fmla="*/ 139571 h 3848529"/>
              <a:gd name="connsiteX23" fmla="*/ 2516474 w 6245759"/>
              <a:gd name="connsiteY23" fmla="*/ 664504 h 3848529"/>
              <a:gd name="connsiteX24" fmla="*/ 2533407 w 6245759"/>
              <a:gd name="connsiteY24" fmla="*/ 596771 h 384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245759" h="3848529">
                <a:moveTo>
                  <a:pt x="2533407" y="596771"/>
                </a:moveTo>
                <a:cubicBezTo>
                  <a:pt x="2547518" y="523393"/>
                  <a:pt x="2488252" y="320193"/>
                  <a:pt x="2601141" y="224237"/>
                </a:cubicBezTo>
                <a:cubicBezTo>
                  <a:pt x="2714030" y="128281"/>
                  <a:pt x="3066808" y="-63630"/>
                  <a:pt x="3210741" y="21037"/>
                </a:cubicBezTo>
                <a:cubicBezTo>
                  <a:pt x="3354674" y="105704"/>
                  <a:pt x="3261541" y="678615"/>
                  <a:pt x="3464741" y="732237"/>
                </a:cubicBezTo>
                <a:cubicBezTo>
                  <a:pt x="3667941" y="785859"/>
                  <a:pt x="4139252" y="382282"/>
                  <a:pt x="4429941" y="342771"/>
                </a:cubicBezTo>
                <a:cubicBezTo>
                  <a:pt x="4720630" y="303260"/>
                  <a:pt x="5127030" y="342771"/>
                  <a:pt x="5208874" y="495171"/>
                </a:cubicBezTo>
                <a:cubicBezTo>
                  <a:pt x="5290718" y="647571"/>
                  <a:pt x="4796829" y="1048327"/>
                  <a:pt x="4921007" y="1257171"/>
                </a:cubicBezTo>
                <a:cubicBezTo>
                  <a:pt x="5045185" y="1466015"/>
                  <a:pt x="5736630" y="1601482"/>
                  <a:pt x="5953941" y="1748237"/>
                </a:cubicBezTo>
                <a:cubicBezTo>
                  <a:pt x="6171252" y="1894992"/>
                  <a:pt x="6298252" y="2019171"/>
                  <a:pt x="6224874" y="2137704"/>
                </a:cubicBezTo>
                <a:cubicBezTo>
                  <a:pt x="6151496" y="2256237"/>
                  <a:pt x="5651963" y="2253415"/>
                  <a:pt x="5513674" y="2459437"/>
                </a:cubicBezTo>
                <a:cubicBezTo>
                  <a:pt x="5375385" y="2665459"/>
                  <a:pt x="5609630" y="3297637"/>
                  <a:pt x="5395141" y="3373837"/>
                </a:cubicBezTo>
                <a:cubicBezTo>
                  <a:pt x="5180652" y="3450037"/>
                  <a:pt x="4523074" y="2871481"/>
                  <a:pt x="4226741" y="2916637"/>
                </a:cubicBezTo>
                <a:cubicBezTo>
                  <a:pt x="3930408" y="2961793"/>
                  <a:pt x="3845741" y="3664526"/>
                  <a:pt x="3617141" y="3644771"/>
                </a:cubicBezTo>
                <a:cubicBezTo>
                  <a:pt x="3388541" y="3625016"/>
                  <a:pt x="3086563" y="2764237"/>
                  <a:pt x="2855141" y="2798104"/>
                </a:cubicBezTo>
                <a:cubicBezTo>
                  <a:pt x="2623719" y="2831971"/>
                  <a:pt x="2471318" y="3822571"/>
                  <a:pt x="2228607" y="3847971"/>
                </a:cubicBezTo>
                <a:cubicBezTo>
                  <a:pt x="1985896" y="3873371"/>
                  <a:pt x="1689563" y="3023882"/>
                  <a:pt x="1398874" y="2950504"/>
                </a:cubicBezTo>
                <a:cubicBezTo>
                  <a:pt x="1108185" y="2877126"/>
                  <a:pt x="701785" y="3399237"/>
                  <a:pt x="484474" y="3407704"/>
                </a:cubicBezTo>
                <a:cubicBezTo>
                  <a:pt x="267163" y="3416171"/>
                  <a:pt x="75252" y="3196037"/>
                  <a:pt x="95007" y="3001304"/>
                </a:cubicBezTo>
                <a:cubicBezTo>
                  <a:pt x="114762" y="2806571"/>
                  <a:pt x="617118" y="2490482"/>
                  <a:pt x="603007" y="2239304"/>
                </a:cubicBezTo>
                <a:cubicBezTo>
                  <a:pt x="588896" y="1988126"/>
                  <a:pt x="-91259" y="1643815"/>
                  <a:pt x="10341" y="1494237"/>
                </a:cubicBezTo>
                <a:cubicBezTo>
                  <a:pt x="111941" y="1344659"/>
                  <a:pt x="1040452" y="1494237"/>
                  <a:pt x="1212607" y="1341837"/>
                </a:cubicBezTo>
                <a:cubicBezTo>
                  <a:pt x="1384762" y="1189437"/>
                  <a:pt x="1037630" y="780215"/>
                  <a:pt x="1043274" y="579837"/>
                </a:cubicBezTo>
                <a:cubicBezTo>
                  <a:pt x="1048918" y="379459"/>
                  <a:pt x="1000941" y="125460"/>
                  <a:pt x="1246474" y="139571"/>
                </a:cubicBezTo>
                <a:cubicBezTo>
                  <a:pt x="1492007" y="153682"/>
                  <a:pt x="2296341" y="582660"/>
                  <a:pt x="2516474" y="664504"/>
                </a:cubicBezTo>
                <a:cubicBezTo>
                  <a:pt x="2736607" y="746348"/>
                  <a:pt x="2519296" y="670149"/>
                  <a:pt x="2533407" y="596771"/>
                </a:cubicBezTo>
                <a:close/>
              </a:path>
            </a:pathLst>
          </a:custGeom>
          <a:solidFill>
            <a:srgbClr val="EDE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E94D05-DE92-4C74-ABAD-3ECF039B9D92}"/>
              </a:ext>
            </a:extLst>
          </p:cNvPr>
          <p:cNvSpPr txBox="1"/>
          <p:nvPr/>
        </p:nvSpPr>
        <p:spPr>
          <a:xfrm>
            <a:off x="2140085" y="846493"/>
            <a:ext cx="3891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Keisya" panose="02000500000000000000" pitchFamily="2" charset="0"/>
              </a:rPr>
              <a:t> Guía de Primeros Auxilios  Determinación de la Relación Estequiométrica entre el Magnesio y el Oxígeno</a:t>
            </a:r>
            <a:r>
              <a:rPr lang="es-419" sz="2400" dirty="0">
                <a:latin typeface="Keisya" panose="02000500000000000000" pitchFamily="2" charset="0"/>
              </a:rPr>
              <a:t> </a:t>
            </a:r>
            <a:endParaRPr lang="es-MX" sz="2400" dirty="0">
              <a:latin typeface="Keisya" panose="02000500000000000000" pitchFamily="2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C91FEC7-152C-4B47-92B8-54882A2DD165}"/>
              </a:ext>
            </a:extLst>
          </p:cNvPr>
          <p:cNvSpPr/>
          <p:nvPr/>
        </p:nvSpPr>
        <p:spPr>
          <a:xfrm>
            <a:off x="222062" y="3742122"/>
            <a:ext cx="7203144" cy="1104152"/>
          </a:xfrm>
          <a:prstGeom prst="rect">
            <a:avLst/>
          </a:prstGeom>
          <a:solidFill>
            <a:schemeClr val="bg1"/>
          </a:solidFill>
          <a:ln w="38100">
            <a:solidFill>
              <a:srgbClr val="52BD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79A232A-3F38-46FC-8611-DFB57B6FF173}"/>
              </a:ext>
            </a:extLst>
          </p:cNvPr>
          <p:cNvSpPr txBox="1"/>
          <p:nvPr/>
        </p:nvSpPr>
        <p:spPr>
          <a:xfrm>
            <a:off x="258564" y="3777727"/>
            <a:ext cx="7130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latin typeface="Hastoler" panose="02000500000000000000" pitchFamily="2" charset="0"/>
              </a:rPr>
              <a:t>3. Equipo de protección personal (EPP)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EEFD444-1028-4E21-B285-47B39DEAE663}"/>
              </a:ext>
            </a:extLst>
          </p:cNvPr>
          <p:cNvSpPr txBox="1"/>
          <p:nvPr/>
        </p:nvSpPr>
        <p:spPr>
          <a:xfrm>
            <a:off x="204764" y="5520110"/>
            <a:ext cx="29017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b="1" u="sng" dirty="0">
                <a:latin typeface="Hastoler" panose="02000500000000000000" pitchFamily="2" charset="0"/>
              </a:rPr>
              <a:t>4. Medidas preventivas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Hastoler" panose="02000500000000000000" pitchFamily="2" charset="0"/>
              </a:rPr>
              <a:t>No mirar directamente la luz del magnesio encendido.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Hastoler" panose="02000500000000000000" pitchFamily="2" charset="0"/>
              </a:rPr>
              <a:t>Usar pinzas para manipular el crisol o el magnesio caliente.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Hastoler" panose="02000500000000000000" pitchFamily="2" charset="0"/>
              </a:rPr>
              <a:t>No tocar el material hasta que se enfríe.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Hastoler" panose="02000500000000000000" pitchFamily="2" charset="0"/>
              </a:rPr>
              <a:t>Trabajar en un área bien ventilada.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Hastoler" panose="02000500000000000000" pitchFamily="2" charset="0"/>
              </a:rPr>
              <a:t>Mantener líquidos y papeles lejos del mechero.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Hastoler" panose="02000500000000000000" pitchFamily="2" charset="0"/>
              </a:rPr>
              <a:t>Conocer la ubicación del extintor y de la ducha de emergencia.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256513E-90B7-4DEE-AA25-6A64E9CAA0A0}"/>
              </a:ext>
            </a:extLst>
          </p:cNvPr>
          <p:cNvSpPr txBox="1"/>
          <p:nvPr/>
        </p:nvSpPr>
        <p:spPr>
          <a:xfrm>
            <a:off x="3380802" y="5520110"/>
            <a:ext cx="41868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MX" sz="2400" dirty="0">
                <a:latin typeface="Hastoler" panose="02000500000000000000" pitchFamily="2" charset="0"/>
              </a:rPr>
              <a:t>Bata de laboratorio.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MX" sz="2400" dirty="0">
                <a:latin typeface="Hastoler" panose="02000500000000000000" pitchFamily="2" charset="0"/>
              </a:rPr>
              <a:t>Gafas de seguridad (muy importante por la luz intensa).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MX" sz="2400" dirty="0">
                <a:latin typeface="Hastoler" panose="02000500000000000000" pitchFamily="2" charset="0"/>
              </a:rPr>
              <a:t>Guantes resistentes al calor.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MX" sz="2400" dirty="0">
                <a:latin typeface="Hastoler" panose="02000500000000000000" pitchFamily="2" charset="0"/>
              </a:rPr>
              <a:t>Pinzas metálicas.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MX" sz="2400" dirty="0">
                <a:latin typeface="Hastoler" panose="02000500000000000000" pitchFamily="2" charset="0"/>
              </a:rPr>
              <a:t>Zapatos cerrados y cabello recogido.</a:t>
            </a:r>
          </a:p>
        </p:txBody>
      </p:sp>
    </p:spTree>
    <p:extLst>
      <p:ext uri="{BB962C8B-B14F-4D97-AF65-F5344CB8AC3E}">
        <p14:creationId xmlns:p14="http://schemas.microsoft.com/office/powerpoint/2010/main" val="69009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7FE5C485-D3BF-448B-A63C-102DF07BD491}"/>
              </a:ext>
            </a:extLst>
          </p:cNvPr>
          <p:cNvSpPr/>
          <p:nvPr/>
        </p:nvSpPr>
        <p:spPr>
          <a:xfrm>
            <a:off x="258564" y="3728760"/>
            <a:ext cx="7291775" cy="13004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EEEF895D-C2D5-4760-A8CD-5EFAD2E96886}"/>
              </a:ext>
            </a:extLst>
          </p:cNvPr>
          <p:cNvSpPr/>
          <p:nvPr/>
        </p:nvSpPr>
        <p:spPr>
          <a:xfrm>
            <a:off x="836326" y="-207304"/>
            <a:ext cx="6245759" cy="3848529"/>
          </a:xfrm>
          <a:custGeom>
            <a:avLst/>
            <a:gdLst>
              <a:gd name="connsiteX0" fmla="*/ 2533407 w 6245759"/>
              <a:gd name="connsiteY0" fmla="*/ 596771 h 3848529"/>
              <a:gd name="connsiteX1" fmla="*/ 2601141 w 6245759"/>
              <a:gd name="connsiteY1" fmla="*/ 224237 h 3848529"/>
              <a:gd name="connsiteX2" fmla="*/ 3210741 w 6245759"/>
              <a:gd name="connsiteY2" fmla="*/ 21037 h 3848529"/>
              <a:gd name="connsiteX3" fmla="*/ 3464741 w 6245759"/>
              <a:gd name="connsiteY3" fmla="*/ 732237 h 3848529"/>
              <a:gd name="connsiteX4" fmla="*/ 4429941 w 6245759"/>
              <a:gd name="connsiteY4" fmla="*/ 342771 h 3848529"/>
              <a:gd name="connsiteX5" fmla="*/ 5208874 w 6245759"/>
              <a:gd name="connsiteY5" fmla="*/ 495171 h 3848529"/>
              <a:gd name="connsiteX6" fmla="*/ 4921007 w 6245759"/>
              <a:gd name="connsiteY6" fmla="*/ 1257171 h 3848529"/>
              <a:gd name="connsiteX7" fmla="*/ 5953941 w 6245759"/>
              <a:gd name="connsiteY7" fmla="*/ 1748237 h 3848529"/>
              <a:gd name="connsiteX8" fmla="*/ 6224874 w 6245759"/>
              <a:gd name="connsiteY8" fmla="*/ 2137704 h 3848529"/>
              <a:gd name="connsiteX9" fmla="*/ 5513674 w 6245759"/>
              <a:gd name="connsiteY9" fmla="*/ 2459437 h 3848529"/>
              <a:gd name="connsiteX10" fmla="*/ 5395141 w 6245759"/>
              <a:gd name="connsiteY10" fmla="*/ 3373837 h 3848529"/>
              <a:gd name="connsiteX11" fmla="*/ 4226741 w 6245759"/>
              <a:gd name="connsiteY11" fmla="*/ 2916637 h 3848529"/>
              <a:gd name="connsiteX12" fmla="*/ 3617141 w 6245759"/>
              <a:gd name="connsiteY12" fmla="*/ 3644771 h 3848529"/>
              <a:gd name="connsiteX13" fmla="*/ 2855141 w 6245759"/>
              <a:gd name="connsiteY13" fmla="*/ 2798104 h 3848529"/>
              <a:gd name="connsiteX14" fmla="*/ 2228607 w 6245759"/>
              <a:gd name="connsiteY14" fmla="*/ 3847971 h 3848529"/>
              <a:gd name="connsiteX15" fmla="*/ 1398874 w 6245759"/>
              <a:gd name="connsiteY15" fmla="*/ 2950504 h 3848529"/>
              <a:gd name="connsiteX16" fmla="*/ 484474 w 6245759"/>
              <a:gd name="connsiteY16" fmla="*/ 3407704 h 3848529"/>
              <a:gd name="connsiteX17" fmla="*/ 95007 w 6245759"/>
              <a:gd name="connsiteY17" fmla="*/ 3001304 h 3848529"/>
              <a:gd name="connsiteX18" fmla="*/ 603007 w 6245759"/>
              <a:gd name="connsiteY18" fmla="*/ 2239304 h 3848529"/>
              <a:gd name="connsiteX19" fmla="*/ 10341 w 6245759"/>
              <a:gd name="connsiteY19" fmla="*/ 1494237 h 3848529"/>
              <a:gd name="connsiteX20" fmla="*/ 1212607 w 6245759"/>
              <a:gd name="connsiteY20" fmla="*/ 1341837 h 3848529"/>
              <a:gd name="connsiteX21" fmla="*/ 1043274 w 6245759"/>
              <a:gd name="connsiteY21" fmla="*/ 579837 h 3848529"/>
              <a:gd name="connsiteX22" fmla="*/ 1246474 w 6245759"/>
              <a:gd name="connsiteY22" fmla="*/ 139571 h 3848529"/>
              <a:gd name="connsiteX23" fmla="*/ 2516474 w 6245759"/>
              <a:gd name="connsiteY23" fmla="*/ 664504 h 3848529"/>
              <a:gd name="connsiteX24" fmla="*/ 2533407 w 6245759"/>
              <a:gd name="connsiteY24" fmla="*/ 596771 h 384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245759" h="3848529">
                <a:moveTo>
                  <a:pt x="2533407" y="596771"/>
                </a:moveTo>
                <a:cubicBezTo>
                  <a:pt x="2547518" y="523393"/>
                  <a:pt x="2488252" y="320193"/>
                  <a:pt x="2601141" y="224237"/>
                </a:cubicBezTo>
                <a:cubicBezTo>
                  <a:pt x="2714030" y="128281"/>
                  <a:pt x="3066808" y="-63630"/>
                  <a:pt x="3210741" y="21037"/>
                </a:cubicBezTo>
                <a:cubicBezTo>
                  <a:pt x="3354674" y="105704"/>
                  <a:pt x="3261541" y="678615"/>
                  <a:pt x="3464741" y="732237"/>
                </a:cubicBezTo>
                <a:cubicBezTo>
                  <a:pt x="3667941" y="785859"/>
                  <a:pt x="4139252" y="382282"/>
                  <a:pt x="4429941" y="342771"/>
                </a:cubicBezTo>
                <a:cubicBezTo>
                  <a:pt x="4720630" y="303260"/>
                  <a:pt x="5127030" y="342771"/>
                  <a:pt x="5208874" y="495171"/>
                </a:cubicBezTo>
                <a:cubicBezTo>
                  <a:pt x="5290718" y="647571"/>
                  <a:pt x="4796829" y="1048327"/>
                  <a:pt x="4921007" y="1257171"/>
                </a:cubicBezTo>
                <a:cubicBezTo>
                  <a:pt x="5045185" y="1466015"/>
                  <a:pt x="5736630" y="1601482"/>
                  <a:pt x="5953941" y="1748237"/>
                </a:cubicBezTo>
                <a:cubicBezTo>
                  <a:pt x="6171252" y="1894992"/>
                  <a:pt x="6298252" y="2019171"/>
                  <a:pt x="6224874" y="2137704"/>
                </a:cubicBezTo>
                <a:cubicBezTo>
                  <a:pt x="6151496" y="2256237"/>
                  <a:pt x="5651963" y="2253415"/>
                  <a:pt x="5513674" y="2459437"/>
                </a:cubicBezTo>
                <a:cubicBezTo>
                  <a:pt x="5375385" y="2665459"/>
                  <a:pt x="5609630" y="3297637"/>
                  <a:pt x="5395141" y="3373837"/>
                </a:cubicBezTo>
                <a:cubicBezTo>
                  <a:pt x="5180652" y="3450037"/>
                  <a:pt x="4523074" y="2871481"/>
                  <a:pt x="4226741" y="2916637"/>
                </a:cubicBezTo>
                <a:cubicBezTo>
                  <a:pt x="3930408" y="2961793"/>
                  <a:pt x="3845741" y="3664526"/>
                  <a:pt x="3617141" y="3644771"/>
                </a:cubicBezTo>
                <a:cubicBezTo>
                  <a:pt x="3388541" y="3625016"/>
                  <a:pt x="3086563" y="2764237"/>
                  <a:pt x="2855141" y="2798104"/>
                </a:cubicBezTo>
                <a:cubicBezTo>
                  <a:pt x="2623719" y="2831971"/>
                  <a:pt x="2471318" y="3822571"/>
                  <a:pt x="2228607" y="3847971"/>
                </a:cubicBezTo>
                <a:cubicBezTo>
                  <a:pt x="1985896" y="3873371"/>
                  <a:pt x="1689563" y="3023882"/>
                  <a:pt x="1398874" y="2950504"/>
                </a:cubicBezTo>
                <a:cubicBezTo>
                  <a:pt x="1108185" y="2877126"/>
                  <a:pt x="701785" y="3399237"/>
                  <a:pt x="484474" y="3407704"/>
                </a:cubicBezTo>
                <a:cubicBezTo>
                  <a:pt x="267163" y="3416171"/>
                  <a:pt x="75252" y="3196037"/>
                  <a:pt x="95007" y="3001304"/>
                </a:cubicBezTo>
                <a:cubicBezTo>
                  <a:pt x="114762" y="2806571"/>
                  <a:pt x="617118" y="2490482"/>
                  <a:pt x="603007" y="2239304"/>
                </a:cubicBezTo>
                <a:cubicBezTo>
                  <a:pt x="588896" y="1988126"/>
                  <a:pt x="-91259" y="1643815"/>
                  <a:pt x="10341" y="1494237"/>
                </a:cubicBezTo>
                <a:cubicBezTo>
                  <a:pt x="111941" y="1344659"/>
                  <a:pt x="1040452" y="1494237"/>
                  <a:pt x="1212607" y="1341837"/>
                </a:cubicBezTo>
                <a:cubicBezTo>
                  <a:pt x="1384762" y="1189437"/>
                  <a:pt x="1037630" y="780215"/>
                  <a:pt x="1043274" y="579837"/>
                </a:cubicBezTo>
                <a:cubicBezTo>
                  <a:pt x="1048918" y="379459"/>
                  <a:pt x="1000941" y="125460"/>
                  <a:pt x="1246474" y="139571"/>
                </a:cubicBezTo>
                <a:cubicBezTo>
                  <a:pt x="1492007" y="153682"/>
                  <a:pt x="2296341" y="582660"/>
                  <a:pt x="2516474" y="664504"/>
                </a:cubicBezTo>
                <a:cubicBezTo>
                  <a:pt x="2736607" y="746348"/>
                  <a:pt x="2519296" y="670149"/>
                  <a:pt x="2533407" y="596771"/>
                </a:cubicBezTo>
                <a:close/>
              </a:path>
            </a:pathLst>
          </a:custGeom>
          <a:solidFill>
            <a:srgbClr val="EDE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E94D05-DE92-4C74-ABAD-3ECF039B9D92}"/>
              </a:ext>
            </a:extLst>
          </p:cNvPr>
          <p:cNvSpPr txBox="1"/>
          <p:nvPr/>
        </p:nvSpPr>
        <p:spPr>
          <a:xfrm>
            <a:off x="2140085" y="846493"/>
            <a:ext cx="3891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Keisya" panose="02000500000000000000" pitchFamily="2" charset="0"/>
              </a:rPr>
              <a:t> Guía de Primeros Auxilios  Determinación de la Relación Estequiométrica entre el Magnesio y el Oxígeno</a:t>
            </a:r>
            <a:r>
              <a:rPr lang="es-419" sz="2400" dirty="0">
                <a:latin typeface="Keisya" panose="02000500000000000000" pitchFamily="2" charset="0"/>
              </a:rPr>
              <a:t> </a:t>
            </a:r>
            <a:endParaRPr lang="es-MX" sz="2400" dirty="0">
              <a:latin typeface="Keisya" panose="02000500000000000000" pitchFamily="2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C91FEC7-152C-4B47-92B8-54882A2DD165}"/>
              </a:ext>
            </a:extLst>
          </p:cNvPr>
          <p:cNvSpPr/>
          <p:nvPr/>
        </p:nvSpPr>
        <p:spPr>
          <a:xfrm>
            <a:off x="222062" y="3742122"/>
            <a:ext cx="7203144" cy="1104152"/>
          </a:xfrm>
          <a:prstGeom prst="rect">
            <a:avLst/>
          </a:prstGeom>
          <a:solidFill>
            <a:schemeClr val="bg1"/>
          </a:solidFill>
          <a:ln w="38100">
            <a:solidFill>
              <a:srgbClr val="52BD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79A232A-3F38-46FC-8611-DFB57B6FF173}"/>
              </a:ext>
            </a:extLst>
          </p:cNvPr>
          <p:cNvSpPr txBox="1"/>
          <p:nvPr/>
        </p:nvSpPr>
        <p:spPr>
          <a:xfrm>
            <a:off x="258564" y="3777727"/>
            <a:ext cx="7130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latin typeface="Hastoler" panose="02000500000000000000" pitchFamily="2" charset="0"/>
              </a:rPr>
              <a:t>3. Equipo de protección personal (EPP)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256513E-90B7-4DEE-AA25-6A64E9CAA0A0}"/>
              </a:ext>
            </a:extLst>
          </p:cNvPr>
          <p:cNvSpPr txBox="1"/>
          <p:nvPr/>
        </p:nvSpPr>
        <p:spPr>
          <a:xfrm>
            <a:off x="1992200" y="5064805"/>
            <a:ext cx="41868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Hastoler" panose="02000500000000000000" pitchFamily="2" charset="0"/>
              </a:rPr>
              <a:t>Quemaduras </a:t>
            </a:r>
            <a:r>
              <a:rPr lang="es-MX" sz="2400" dirty="0" err="1">
                <a:latin typeface="Hastoler" panose="02000500000000000000" pitchFamily="2" charset="0"/>
              </a:rPr>
              <a:t>leves:Enfriar</a:t>
            </a:r>
            <a:r>
              <a:rPr lang="es-MX" sz="2400" dirty="0">
                <a:latin typeface="Hastoler" panose="02000500000000000000" pitchFamily="2" charset="0"/>
              </a:rPr>
              <a:t> con agua corriente durante varios minutos.</a:t>
            </a:r>
          </a:p>
          <a:p>
            <a:pPr algn="just"/>
            <a:r>
              <a:rPr lang="es-MX" sz="2400" dirty="0">
                <a:latin typeface="Hastoler" panose="02000500000000000000" pitchFamily="2" charset="0"/>
              </a:rPr>
              <a:t>Contacto con los ojos (por luz o partículas): Enjuagar con agua o solución salina y avisar al profesor.</a:t>
            </a:r>
          </a:p>
          <a:p>
            <a:pPr algn="just"/>
            <a:r>
              <a:rPr lang="es-MX" sz="2400" dirty="0">
                <a:latin typeface="Hastoler" panose="02000500000000000000" pitchFamily="2" charset="0"/>
              </a:rPr>
              <a:t>Inhalación de humo: Salir al aire fresco y avisar de inmediato.</a:t>
            </a:r>
          </a:p>
          <a:p>
            <a:pPr algn="just"/>
            <a:r>
              <a:rPr lang="es-MX" sz="2400" dirty="0">
                <a:latin typeface="Hastoler" panose="02000500000000000000" pitchFamily="2" charset="0"/>
              </a:rPr>
              <a:t>Incendio pequeño: Usar el extintor o apagar el mechero rápidamente.</a:t>
            </a:r>
          </a:p>
        </p:txBody>
      </p:sp>
    </p:spTree>
    <p:extLst>
      <p:ext uri="{BB962C8B-B14F-4D97-AF65-F5344CB8AC3E}">
        <p14:creationId xmlns:p14="http://schemas.microsoft.com/office/powerpoint/2010/main" val="1879627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299</Words>
  <Application>Microsoft Office PowerPoint</Application>
  <PresentationFormat>Personalizado</PresentationFormat>
  <Paragraphs>29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Hastoler</vt:lpstr>
      <vt:lpstr>Keisya</vt:lpstr>
      <vt:lpstr>Wingdings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MILDRED GONZALEZ PAXTIAN</dc:creator>
  <cp:lastModifiedBy>Usuario</cp:lastModifiedBy>
  <cp:revision>39</cp:revision>
  <dcterms:created xsi:type="dcterms:W3CDTF">2021-05-13T22:58:15Z</dcterms:created>
  <dcterms:modified xsi:type="dcterms:W3CDTF">2025-10-28T19:43:36Z</dcterms:modified>
</cp:coreProperties>
</file>