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9C5"/>
    <a:srgbClr val="FF9494"/>
    <a:srgbClr val="FFF5E4"/>
    <a:srgbClr val="69655E"/>
    <a:srgbClr val="E8CBFF"/>
    <a:srgbClr val="FFD1D1"/>
    <a:srgbClr val="FCFBFC"/>
    <a:srgbClr val="C2DAE6"/>
    <a:srgbClr val="FFFFFF"/>
    <a:srgbClr val="FFE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2D1E7-AAA7-20C3-B791-14C5446C0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C8EC02-A58F-FB09-2DF6-853F9F7AF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838946-9DDA-9167-FE11-D214375DA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330E39-6A39-7021-E4E0-A126B4AD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BEA2F1-F3B6-44C0-B320-D5C3341C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A16166-5153-0BCF-7C1D-BB9A86A5A414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038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20ACE11-A3EB-B752-9418-62D37A89A03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75E233-C46E-3290-AF2F-B5A02BD47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6CCE83-2641-7AD9-EE45-AD7B0D33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5CC149-08C4-FD03-8A1E-8CC08A9B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5722" y="6858000"/>
            <a:ext cx="2743200" cy="365125"/>
          </a:xfrm>
        </p:spPr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17378E9-2B3D-B84E-9374-0FDB5BF584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516" y="136525"/>
            <a:ext cx="11724968" cy="64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57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73E1D-C61C-9807-A80A-0BB88A20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9C67DE-01B5-D643-6227-8D6602FAE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BF0291-6243-36E3-D348-33A73394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E4D1E-98B5-27C0-C511-693FAB77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E4CDD3-B3CD-1042-FB7C-A2034BDB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8A0439-EEEF-E691-A162-54F9195C516B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039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E2245-4AC4-4EFC-B613-5065D6EC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D424F1-4A04-F8E9-3480-D19A14A68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0884CA-1B44-6A1D-B684-94528122A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36EF3F-88C3-3FFE-A9D4-72951D4B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9B48BC-76BA-63BF-BFF5-7841133C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175621-4386-81AF-8B9D-C341A5B0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5CA9C9B-3823-4526-2AD0-9BB0A4EC089E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128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C2171-720A-9A42-2D7B-399A4011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0C4C97-0654-7835-95AB-D4AC047D6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DDB4E8-8781-ABBF-0946-E99948479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14C410-7312-B86E-801E-2E7294B5F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A4D0FE-A288-3492-26A8-3D640FCCE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07EC27E-8091-7015-B98D-C7D3A9175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054A11F-FF26-8817-6095-A54E7661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98CC63-997A-1BCF-A060-31C2CF46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060C85-9F74-2507-2817-29B34B0F7ABE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554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3083B-FE2C-5B77-056E-43C9D86DA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889E11-0F2D-D918-CB38-82E97F98C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6DA132-49B6-84CE-6F2B-821D4417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CF5222-6E03-672B-33EF-1B4FC551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05700" y="5238750"/>
            <a:ext cx="2743200" cy="365125"/>
          </a:xfrm>
        </p:spPr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9AD7D5-D7EE-F51A-06A3-DC00987FD4F5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43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FADE22-88DB-BE04-4ADD-2FCD6139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5A016F-F118-1246-3063-0B346F97D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14F876-9CA2-05EF-73E1-F4257463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0355B2-0248-F5C6-FE2B-DF7B9F4ABBDC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596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DFE52-1580-CA89-91E3-86BC80AD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D8AC13-9DC8-8B51-D089-9D2DF37E0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F8A6EF-8DC6-7C2E-55D0-F14CF1939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926061-7ADB-6953-59A3-A92C040E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A3A2BF-C065-D72D-2337-E67C039E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8DC24D-4743-5888-192F-7CBF5DEF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8610600" y="5868989"/>
            <a:ext cx="1689100" cy="487362"/>
          </a:xfrm>
        </p:spPr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F8838C-B8B5-700D-EBB2-1B96D9F4EAB3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3156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506F2-21DC-0245-6244-DA41D859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50FE3A8-E2EA-2E39-54B6-FAFAF475F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F17624-28E4-04DD-3DD5-67E6458F0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BCE853-BE7F-8BA0-C011-F57D753CB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60EFAB-D6B4-A2C9-5D42-CA3FF850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D8D919-39BA-4B1B-7649-56B2F1E3D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8D55363-AA47-B5A0-0587-6441445B9C2D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502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33A95-3411-C9E7-65AD-5A81A029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A747FF-482A-3EAA-A322-607A4F214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AB12B8-F013-DDCE-4332-D94C50EF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77D1E9-53E3-02E5-47F5-DF0CB685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5947F9-ECF7-677E-B2B8-1EE4F7E3D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A307429-671A-4199-FF7E-F0D600F1B171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01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5F51AA-EE28-4B5D-A549-155F13905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95315C-EED3-061F-6832-AEC099127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C2C6BF-D8C3-18FD-903D-FE71D0A5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8774C6-1085-2A0E-B680-05435348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953A04-79C7-2FA7-7CD8-A72AC431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CE7C44D-2F9B-42DA-980E-A9916822866D}"/>
              </a:ext>
            </a:extLst>
          </p:cNvPr>
          <p:cNvSpPr/>
          <p:nvPr userDrawn="1"/>
        </p:nvSpPr>
        <p:spPr>
          <a:xfrm>
            <a:off x="10319657" y="6356350"/>
            <a:ext cx="1719943" cy="50165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735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1D57D1-92B1-B508-2C17-951DB8EBA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2C7CE-4B8D-4BD0-82FC-DA0FAB69CB0C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FC78DA-6AE1-ABD8-E100-701899EF8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3B0504-AEA9-A8B7-A776-DE172486A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E9563-E2AA-434B-B4DC-7FBCA149C26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300B21-70EE-AF90-9D6F-6EFC4FC4262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718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13F9498F-A1CC-73AA-10FB-E7234FA82F70}"/>
              </a:ext>
            </a:extLst>
          </p:cNvPr>
          <p:cNvSpPr/>
          <p:nvPr/>
        </p:nvSpPr>
        <p:spPr>
          <a:xfrm>
            <a:off x="11477845" y="6615848"/>
            <a:ext cx="206155" cy="203200"/>
          </a:xfrm>
          <a:prstGeom prst="flowChartConnector">
            <a:avLst/>
          </a:prstGeom>
          <a:solidFill>
            <a:srgbClr val="FF9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06D8CD-E73B-10A0-E94B-602BDCC52D01}"/>
              </a:ext>
            </a:extLst>
          </p:cNvPr>
          <p:cNvSpPr/>
          <p:nvPr/>
        </p:nvSpPr>
        <p:spPr>
          <a:xfrm>
            <a:off x="8229600" y="6671729"/>
            <a:ext cx="3146645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A377B1-C360-C62A-2697-59105EECC905}"/>
              </a:ext>
            </a:extLst>
          </p:cNvPr>
          <p:cNvSpPr txBox="1"/>
          <p:nvPr/>
        </p:nvSpPr>
        <p:spPr>
          <a:xfrm>
            <a:off x="3121252" y="2397948"/>
            <a:ext cx="61377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dirty="0">
                <a:ln>
                  <a:solidFill>
                    <a:schemeClr val="tx1"/>
                  </a:solidFill>
                </a:ln>
                <a:solidFill>
                  <a:srgbClr val="FF9494"/>
                </a:solidFill>
                <a:latin typeface="Keep on Truckin" panose="00000400000000000000" pitchFamily="2" charset="0"/>
              </a:rPr>
              <a:t> </a:t>
            </a:r>
            <a:r>
              <a:rPr lang="es-MX" sz="2400" dirty="0">
                <a:ln>
                  <a:solidFill>
                    <a:schemeClr val="tx1"/>
                  </a:solidFill>
                </a:ln>
                <a:solidFill>
                  <a:schemeClr val="accent2"/>
                </a:solidFill>
                <a:latin typeface="Keep on Truckin" panose="00000400000000000000" pitchFamily="2" charset="0"/>
              </a:rPr>
              <a:t>Primeros Auxilios – Ley de Conservación de la Masa: Descomposición Térmica del Bicarbonato de Sodio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EB06D40-A641-A59A-D4F3-83A530B8C494}"/>
              </a:ext>
            </a:extLst>
          </p:cNvPr>
          <p:cNvSpPr/>
          <p:nvPr/>
        </p:nvSpPr>
        <p:spPr>
          <a:xfrm>
            <a:off x="3892021" y="3631025"/>
            <a:ext cx="4997885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352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A3BDB1B-00D0-347C-AB03-866ACA1E360E}"/>
              </a:ext>
            </a:extLst>
          </p:cNvPr>
          <p:cNvSpPr/>
          <p:nvPr/>
        </p:nvSpPr>
        <p:spPr>
          <a:xfrm>
            <a:off x="237994" y="378912"/>
            <a:ext cx="3056351" cy="5633581"/>
          </a:xfrm>
          <a:prstGeom prst="rect">
            <a:avLst/>
          </a:prstGeom>
          <a:solidFill>
            <a:srgbClr val="FFC9C5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51C68B3-D76A-0CFF-343E-BADD95FD3E6B}"/>
              </a:ext>
            </a:extLst>
          </p:cNvPr>
          <p:cNvSpPr/>
          <p:nvPr/>
        </p:nvSpPr>
        <p:spPr>
          <a:xfrm>
            <a:off x="528181" y="706676"/>
            <a:ext cx="3056351" cy="5633581"/>
          </a:xfrm>
          <a:prstGeom prst="rect">
            <a:avLst/>
          </a:prstGeom>
          <a:solidFill>
            <a:srgbClr val="FFF5E4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692A2F-4953-52E7-D2C2-A59FF9BF5563}"/>
              </a:ext>
            </a:extLst>
          </p:cNvPr>
          <p:cNvSpPr/>
          <p:nvPr/>
        </p:nvSpPr>
        <p:spPr>
          <a:xfrm>
            <a:off x="941539" y="1034440"/>
            <a:ext cx="3056351" cy="5633581"/>
          </a:xfrm>
          <a:prstGeom prst="rect">
            <a:avLst/>
          </a:prstGeom>
          <a:solidFill>
            <a:srgbClr val="FFFFFF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6E00B29-86E2-B0D1-A753-50721122D347}"/>
              </a:ext>
            </a:extLst>
          </p:cNvPr>
          <p:cNvSpPr/>
          <p:nvPr/>
        </p:nvSpPr>
        <p:spPr>
          <a:xfrm>
            <a:off x="237994" y="212942"/>
            <a:ext cx="3056351" cy="165970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7D6C42-9DC5-CF2B-5F1D-5E9BB415FF8C}"/>
              </a:ext>
            </a:extLst>
          </p:cNvPr>
          <p:cNvSpPr/>
          <p:nvPr/>
        </p:nvSpPr>
        <p:spPr>
          <a:xfrm>
            <a:off x="528181" y="540706"/>
            <a:ext cx="3056351" cy="165970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6F084BA-5C74-0B51-31C2-A5C10964F2B2}"/>
              </a:ext>
            </a:extLst>
          </p:cNvPr>
          <p:cNvSpPr/>
          <p:nvPr/>
        </p:nvSpPr>
        <p:spPr>
          <a:xfrm>
            <a:off x="941538" y="868470"/>
            <a:ext cx="3056351" cy="165970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EAD88D4-A8E4-3DDD-54BF-34CD8A07C0DF}"/>
              </a:ext>
            </a:extLst>
          </p:cNvPr>
          <p:cNvSpPr/>
          <p:nvPr/>
        </p:nvSpPr>
        <p:spPr>
          <a:xfrm>
            <a:off x="651351" y="845507"/>
            <a:ext cx="123170" cy="4747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3F1B2D-F733-3033-68AF-4384E21B5EA0}"/>
              </a:ext>
            </a:extLst>
          </p:cNvPr>
          <p:cNvSpPr/>
          <p:nvPr/>
        </p:nvSpPr>
        <p:spPr>
          <a:xfrm>
            <a:off x="329846" y="540706"/>
            <a:ext cx="123170" cy="4747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BDA9C01-6989-9CED-3689-71D33FBA3D76}"/>
              </a:ext>
            </a:extLst>
          </p:cNvPr>
          <p:cNvSpPr/>
          <p:nvPr/>
        </p:nvSpPr>
        <p:spPr>
          <a:xfrm>
            <a:off x="1064709" y="1149522"/>
            <a:ext cx="123170" cy="4747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3638982-4A47-35D1-24EC-052FE8C3E02B}"/>
              </a:ext>
            </a:extLst>
          </p:cNvPr>
          <p:cNvSpPr txBox="1"/>
          <p:nvPr/>
        </p:nvSpPr>
        <p:spPr>
          <a:xfrm>
            <a:off x="975981" y="5947962"/>
            <a:ext cx="3006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71DB690-7C22-A96D-06E0-7715E479E127}"/>
              </a:ext>
            </a:extLst>
          </p:cNvPr>
          <p:cNvSpPr txBox="1"/>
          <p:nvPr/>
        </p:nvSpPr>
        <p:spPr>
          <a:xfrm>
            <a:off x="576189" y="5602888"/>
            <a:ext cx="3006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9FCE5B2-DB0A-C0E5-663A-453967A1030E}"/>
              </a:ext>
            </a:extLst>
          </p:cNvPr>
          <p:cNvSpPr txBox="1"/>
          <p:nvPr/>
        </p:nvSpPr>
        <p:spPr>
          <a:xfrm>
            <a:off x="227556" y="5288593"/>
            <a:ext cx="3006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</a:t>
            </a:r>
          </a:p>
        </p:txBody>
      </p:sp>
      <p:pic>
        <p:nvPicPr>
          <p:cNvPr id="4098" name="Picture 2" descr="Icono Del Cursor Del Ratón, Símbolo De La Muestra De La Flecha Del Pixel  Ilustración del Vector - Ilustración de objeto, asimiento: 151440288">
            <a:extLst>
              <a:ext uri="{FF2B5EF4-FFF2-40B4-BE49-F238E27FC236}">
                <a16:creationId xmlns:a16="http://schemas.microsoft.com/office/drawing/2014/main" id="{79667542-FDCC-9531-8722-68E551284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50" b="92250" l="10000" r="90000">
                        <a14:foregroundMark x1="26875" y1="6250" x2="26875" y2="6250"/>
                        <a14:foregroundMark x1="21625" y1="22250" x2="21625" y2="22250"/>
                        <a14:foregroundMark x1="36500" y1="17500" x2="36500" y2="17500"/>
                        <a14:foregroundMark x1="55125" y1="35250" x2="55125" y2="35250"/>
                        <a14:foregroundMark x1="70125" y1="51000" x2="70125" y2="51000"/>
                        <a14:foregroundMark x1="51375" y1="33375" x2="51375" y2="33375"/>
                        <a14:foregroundMark x1="66375" y1="63500" x2="66375" y2="63500"/>
                        <a14:foregroundMark x1="59875" y1="39500" x2="59875" y2="39500"/>
                        <a14:foregroundMark x1="63625" y1="44875" x2="63625" y2="44875"/>
                        <a14:foregroundMark x1="78500" y1="60250" x2="78500" y2="60250"/>
                        <a14:foregroundMark x1="59750" y1="74750" x2="59750" y2="74750"/>
                        <a14:foregroundMark x1="63000" y1="84750" x2="63625" y2="85125"/>
                        <a14:foregroundMark x1="58875" y1="92250" x2="58875" y2="92250"/>
                        <a14:foregroundMark x1="51125" y1="88750" x2="51125" y2="88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317" y="1034440"/>
            <a:ext cx="569930" cy="50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36183D6-B3C2-8281-2931-8E6B18F73DB5}"/>
              </a:ext>
            </a:extLst>
          </p:cNvPr>
          <p:cNvSpPr txBox="1"/>
          <p:nvPr/>
        </p:nvSpPr>
        <p:spPr>
          <a:xfrm>
            <a:off x="1167523" y="1003542"/>
            <a:ext cx="2795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eland" panose="02000500000000000000" pitchFamily="50" charset="0"/>
                <a:cs typeface="Aharoni" panose="02010803020104030203" pitchFamily="2" charset="-79"/>
              </a:rPr>
              <a:t>1. Título y propósito del experimento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D86F554-1FCB-82AC-976B-B8B1F903A327}"/>
              </a:ext>
            </a:extLst>
          </p:cNvPr>
          <p:cNvSpPr/>
          <p:nvPr/>
        </p:nvSpPr>
        <p:spPr>
          <a:xfrm>
            <a:off x="3584532" y="0"/>
            <a:ext cx="8607468" cy="358543"/>
          </a:xfrm>
          <a:prstGeom prst="rect">
            <a:avLst/>
          </a:prstGeom>
          <a:gradFill flip="none" rotWithShape="1">
            <a:gsLst>
              <a:gs pos="0">
                <a:srgbClr val="FFF5E4"/>
              </a:gs>
              <a:gs pos="62000">
                <a:srgbClr val="FFC9C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A0FA1E97-AB24-CA2B-13A3-5CC1FC528AE0}"/>
              </a:ext>
            </a:extLst>
          </p:cNvPr>
          <p:cNvGrpSpPr/>
          <p:nvPr/>
        </p:nvGrpSpPr>
        <p:grpSpPr>
          <a:xfrm>
            <a:off x="11249771" y="89271"/>
            <a:ext cx="794235" cy="180000"/>
            <a:chOff x="11249771" y="89271"/>
            <a:chExt cx="794235" cy="180000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CD266611-5286-6A46-FB48-042012EEA7A1}"/>
                </a:ext>
              </a:extLst>
            </p:cNvPr>
            <p:cNvSpPr/>
            <p:nvPr/>
          </p:nvSpPr>
          <p:spPr>
            <a:xfrm>
              <a:off x="11864006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1C329FBE-BBC6-B2A3-C54F-E244202F23D9}"/>
                </a:ext>
              </a:extLst>
            </p:cNvPr>
            <p:cNvSpPr/>
            <p:nvPr/>
          </p:nvSpPr>
          <p:spPr>
            <a:xfrm>
              <a:off x="11556888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742CB0A3-9E31-3DEE-512A-A708DE5EDC8A}"/>
                </a:ext>
              </a:extLst>
            </p:cNvPr>
            <p:cNvSpPr/>
            <p:nvPr/>
          </p:nvSpPr>
          <p:spPr>
            <a:xfrm>
              <a:off x="11249771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7648517-D790-3223-1023-3CF5B92011C9}"/>
              </a:ext>
            </a:extLst>
          </p:cNvPr>
          <p:cNvSpPr/>
          <p:nvPr/>
        </p:nvSpPr>
        <p:spPr>
          <a:xfrm>
            <a:off x="1515649" y="1868410"/>
            <a:ext cx="2192053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61A147DC-54BB-F715-6C5E-869EBF8FDC3A}"/>
              </a:ext>
            </a:extLst>
          </p:cNvPr>
          <p:cNvGrpSpPr/>
          <p:nvPr/>
        </p:nvGrpSpPr>
        <p:grpSpPr>
          <a:xfrm>
            <a:off x="4411247" y="528133"/>
            <a:ext cx="7632759" cy="2678530"/>
            <a:chOff x="4411247" y="528133"/>
            <a:chExt cx="7632759" cy="2678530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83642DD5-8B59-FE37-F11F-1CE9D61F5F54}"/>
                </a:ext>
              </a:extLst>
            </p:cNvPr>
            <p:cNvSpPr/>
            <p:nvPr/>
          </p:nvSpPr>
          <p:spPr>
            <a:xfrm>
              <a:off x="4411247" y="706676"/>
              <a:ext cx="7632759" cy="24999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BFF3A548-EF9A-9628-88EA-F1906605E05F}"/>
                </a:ext>
              </a:extLst>
            </p:cNvPr>
            <p:cNvSpPr/>
            <p:nvPr/>
          </p:nvSpPr>
          <p:spPr>
            <a:xfrm>
              <a:off x="4411247" y="528133"/>
              <a:ext cx="7632759" cy="178543"/>
            </a:xfrm>
            <a:prstGeom prst="rect">
              <a:avLst/>
            </a:prstGeom>
            <a:solidFill>
              <a:srgbClr val="FFC9C5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56BB4E79-55A6-8C3E-D478-C55A03E60753}"/>
              </a:ext>
            </a:extLst>
          </p:cNvPr>
          <p:cNvGrpSpPr/>
          <p:nvPr/>
        </p:nvGrpSpPr>
        <p:grpSpPr>
          <a:xfrm>
            <a:off x="4478739" y="1289403"/>
            <a:ext cx="7383415" cy="1562657"/>
            <a:chOff x="1079007" y="2063773"/>
            <a:chExt cx="4382999" cy="1562657"/>
          </a:xfrm>
        </p:grpSpPr>
        <p:sp>
          <p:nvSpPr>
            <p:cNvPr id="46" name="TextBox 23">
              <a:extLst>
                <a:ext uri="{FF2B5EF4-FFF2-40B4-BE49-F238E27FC236}">
                  <a16:creationId xmlns:a16="http://schemas.microsoft.com/office/drawing/2014/main" id="{6B21E8C3-1EA0-B529-63B7-3591114CD4B3}"/>
                </a:ext>
              </a:extLst>
            </p:cNvPr>
            <p:cNvSpPr txBox="1"/>
            <p:nvPr/>
          </p:nvSpPr>
          <p:spPr>
            <a:xfrm>
              <a:off x="1079007" y="2063773"/>
              <a:ext cx="411799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altLang="ko-KR" sz="1600" b="1" u="sng" dirty="0">
                  <a:latin typeface="Arial"/>
                  <a:cs typeface="Arial" pitchFamily="34" charset="0"/>
                </a:rPr>
                <a:t>Nombre: </a:t>
              </a:r>
              <a:r>
                <a:rPr lang="es-MX" altLang="ko-KR" sz="1600" dirty="0">
                  <a:latin typeface="Arial"/>
                  <a:cs typeface="Arial" pitchFamily="34" charset="0"/>
                </a:rPr>
                <a:t>Descomposición térmica del bicarbonato de sodio.</a:t>
              </a:r>
            </a:p>
            <a:p>
              <a:pPr algn="ctr"/>
              <a:r>
                <a:rPr lang="es-MX" altLang="ko-KR" sz="1600" b="1" u="sng" dirty="0">
                  <a:latin typeface="Arial"/>
                  <a:cs typeface="Arial" pitchFamily="34" charset="0"/>
                </a:rPr>
                <a:t>Propósito: </a:t>
              </a:r>
              <a:r>
                <a:rPr lang="es-MX" altLang="ko-KR" sz="1600" dirty="0">
                  <a:latin typeface="Arial"/>
                  <a:cs typeface="Arial" pitchFamily="34" charset="0"/>
                </a:rPr>
                <a:t>Comprobar la Ley de Conservación de la Masa observando los cambios de masa antes y después de calentar el bicarbonato de sodio.</a:t>
              </a:r>
            </a:p>
            <a:p>
              <a:pPr algn="ctr"/>
              <a:endParaRPr lang="es-MX" altLang="ko-KR" sz="1600" dirty="0">
                <a:latin typeface="Arial"/>
                <a:cs typeface="Arial" pitchFamily="34" charset="0"/>
              </a:endParaRPr>
            </a:p>
          </p:txBody>
        </p:sp>
        <p:sp>
          <p:nvSpPr>
            <p:cNvPr id="43" name="TextBox 23">
              <a:extLst>
                <a:ext uri="{FF2B5EF4-FFF2-40B4-BE49-F238E27FC236}">
                  <a16:creationId xmlns:a16="http://schemas.microsoft.com/office/drawing/2014/main" id="{346E9C1A-18CB-0977-B760-F3FCF5F42BD6}"/>
                </a:ext>
              </a:extLst>
            </p:cNvPr>
            <p:cNvSpPr txBox="1"/>
            <p:nvPr/>
          </p:nvSpPr>
          <p:spPr>
            <a:xfrm>
              <a:off x="1344009" y="3287876"/>
              <a:ext cx="41179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MX" altLang="ko-KR" sz="1600" dirty="0">
                <a:latin typeface="Arial"/>
                <a:cs typeface="Arial" pitchFamily="34" charset="0"/>
              </a:endParaRPr>
            </a:p>
          </p:txBody>
        </p: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D2F91086-A9D7-4C43-9EE2-7C5778AE8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153" y="3544084"/>
            <a:ext cx="3152225" cy="2468409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27057F06-1EBA-482A-AC54-7AA6433A53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123" y="230657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26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C3D9F1D-2D5C-1AE9-BE82-15740016DF8B}"/>
              </a:ext>
            </a:extLst>
          </p:cNvPr>
          <p:cNvSpPr/>
          <p:nvPr/>
        </p:nvSpPr>
        <p:spPr>
          <a:xfrm>
            <a:off x="237994" y="378912"/>
            <a:ext cx="3056351" cy="5633581"/>
          </a:xfrm>
          <a:prstGeom prst="rect">
            <a:avLst/>
          </a:prstGeom>
          <a:solidFill>
            <a:srgbClr val="FFFFFF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0F9FEC4-8FA2-385E-06F7-888629DE804E}"/>
              </a:ext>
            </a:extLst>
          </p:cNvPr>
          <p:cNvSpPr/>
          <p:nvPr/>
        </p:nvSpPr>
        <p:spPr>
          <a:xfrm>
            <a:off x="528181" y="706676"/>
            <a:ext cx="3056351" cy="5633581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C6DAEE9-7665-5400-C38C-A8538E4CA79B}"/>
              </a:ext>
            </a:extLst>
          </p:cNvPr>
          <p:cNvSpPr/>
          <p:nvPr/>
        </p:nvSpPr>
        <p:spPr>
          <a:xfrm>
            <a:off x="941539" y="1034440"/>
            <a:ext cx="3056351" cy="5633581"/>
          </a:xfrm>
          <a:prstGeom prst="rect">
            <a:avLst/>
          </a:prstGeom>
          <a:solidFill>
            <a:srgbClr val="FFF5E4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10D626-766E-F04E-4678-8CBB5ABC3AC9}"/>
              </a:ext>
            </a:extLst>
          </p:cNvPr>
          <p:cNvSpPr/>
          <p:nvPr/>
        </p:nvSpPr>
        <p:spPr>
          <a:xfrm>
            <a:off x="237994" y="212942"/>
            <a:ext cx="3056351" cy="165970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9064344-761B-6D04-96F8-7F8B173270E5}"/>
              </a:ext>
            </a:extLst>
          </p:cNvPr>
          <p:cNvSpPr/>
          <p:nvPr/>
        </p:nvSpPr>
        <p:spPr>
          <a:xfrm>
            <a:off x="528181" y="540706"/>
            <a:ext cx="3056351" cy="165970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07BC80F-0B10-1F8D-3748-329EFA6604F1}"/>
              </a:ext>
            </a:extLst>
          </p:cNvPr>
          <p:cNvSpPr/>
          <p:nvPr/>
        </p:nvSpPr>
        <p:spPr>
          <a:xfrm>
            <a:off x="941538" y="868470"/>
            <a:ext cx="3056351" cy="165970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A427B7A-0FCA-3B5D-33A4-325634F883EA}"/>
              </a:ext>
            </a:extLst>
          </p:cNvPr>
          <p:cNvSpPr/>
          <p:nvPr/>
        </p:nvSpPr>
        <p:spPr>
          <a:xfrm>
            <a:off x="651351" y="845507"/>
            <a:ext cx="123170" cy="4747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96999-07A1-01C7-DAC3-A98B42B88ECA}"/>
              </a:ext>
            </a:extLst>
          </p:cNvPr>
          <p:cNvSpPr/>
          <p:nvPr/>
        </p:nvSpPr>
        <p:spPr>
          <a:xfrm>
            <a:off x="329846" y="540706"/>
            <a:ext cx="123170" cy="4747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10F3E1A-2BEC-2301-883A-FE77450EDEF4}"/>
              </a:ext>
            </a:extLst>
          </p:cNvPr>
          <p:cNvSpPr/>
          <p:nvPr/>
        </p:nvSpPr>
        <p:spPr>
          <a:xfrm>
            <a:off x="1064709" y="1149522"/>
            <a:ext cx="123170" cy="4747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DC78B9C-FB4B-0B0C-EF32-EE865CABDBA8}"/>
              </a:ext>
            </a:extLst>
          </p:cNvPr>
          <p:cNvSpPr txBox="1"/>
          <p:nvPr/>
        </p:nvSpPr>
        <p:spPr>
          <a:xfrm>
            <a:off x="975981" y="5947962"/>
            <a:ext cx="3006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CAE1969-7A40-1FA6-C4CB-640442D6B431}"/>
              </a:ext>
            </a:extLst>
          </p:cNvPr>
          <p:cNvSpPr/>
          <p:nvPr/>
        </p:nvSpPr>
        <p:spPr>
          <a:xfrm>
            <a:off x="3584532" y="0"/>
            <a:ext cx="8607468" cy="358543"/>
          </a:xfrm>
          <a:prstGeom prst="rect">
            <a:avLst/>
          </a:prstGeom>
          <a:gradFill flip="none" rotWithShape="1">
            <a:gsLst>
              <a:gs pos="0">
                <a:srgbClr val="FFF5E4"/>
              </a:gs>
              <a:gs pos="62000">
                <a:srgbClr val="FFC9C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5229975-E470-8F5E-47AC-669D7EF17342}"/>
              </a:ext>
            </a:extLst>
          </p:cNvPr>
          <p:cNvSpPr txBox="1"/>
          <p:nvPr/>
        </p:nvSpPr>
        <p:spPr>
          <a:xfrm>
            <a:off x="576189" y="5602888"/>
            <a:ext cx="3006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50C8410-37AA-902B-1181-C1F91E7B8A28}"/>
              </a:ext>
            </a:extLst>
          </p:cNvPr>
          <p:cNvSpPr txBox="1"/>
          <p:nvPr/>
        </p:nvSpPr>
        <p:spPr>
          <a:xfrm>
            <a:off x="227556" y="5288593"/>
            <a:ext cx="3006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</a:p>
        </p:txBody>
      </p:sp>
      <p:pic>
        <p:nvPicPr>
          <p:cNvPr id="14" name="Picture 2" descr="Icono Del Cursor Del Ratón, Símbolo De La Muestra De La Flecha Del Pixel  Ilustración del Vector - Ilustración de objeto, asimiento: 151440288">
            <a:extLst>
              <a:ext uri="{FF2B5EF4-FFF2-40B4-BE49-F238E27FC236}">
                <a16:creationId xmlns:a16="http://schemas.microsoft.com/office/drawing/2014/main" id="{2C6C7539-30F4-AFD1-C7DA-68B909A7D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50" b="92250" l="10000" r="90000">
                        <a14:foregroundMark x1="26875" y1="6250" x2="26875" y2="6250"/>
                        <a14:foregroundMark x1="21625" y1="22250" x2="21625" y2="22250"/>
                        <a14:foregroundMark x1="36500" y1="17500" x2="36500" y2="17500"/>
                        <a14:foregroundMark x1="55125" y1="35250" x2="55125" y2="35250"/>
                        <a14:foregroundMark x1="70125" y1="51000" x2="70125" y2="51000"/>
                        <a14:foregroundMark x1="51375" y1="33375" x2="51375" y2="33375"/>
                        <a14:foregroundMark x1="66375" y1="63500" x2="66375" y2="63500"/>
                        <a14:foregroundMark x1="59875" y1="39500" x2="59875" y2="39500"/>
                        <a14:foregroundMark x1="63625" y1="44875" x2="63625" y2="44875"/>
                        <a14:foregroundMark x1="78500" y1="60250" x2="78500" y2="60250"/>
                        <a14:foregroundMark x1="59750" y1="74750" x2="59750" y2="74750"/>
                        <a14:foregroundMark x1="63000" y1="84750" x2="63625" y2="85125"/>
                        <a14:foregroundMark x1="58875" y1="92250" x2="58875" y2="92250"/>
                        <a14:foregroundMark x1="51125" y1="88750" x2="51125" y2="88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175" y="257288"/>
            <a:ext cx="569930" cy="50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PreWebs - Tu web en 3 días - Clientes Vivir de eso">
            <a:extLst>
              <a:ext uri="{FF2B5EF4-FFF2-40B4-BE49-F238E27FC236}">
                <a16:creationId xmlns:a16="http://schemas.microsoft.com/office/drawing/2014/main" id="{82231D4C-F920-4EDA-C225-FB7E8A47A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986" y="3869499"/>
            <a:ext cx="5158460" cy="298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10233096-7880-3F14-685C-C991A893A4C2}"/>
              </a:ext>
            </a:extLst>
          </p:cNvPr>
          <p:cNvSpPr txBox="1"/>
          <p:nvPr/>
        </p:nvSpPr>
        <p:spPr>
          <a:xfrm>
            <a:off x="1187879" y="1110764"/>
            <a:ext cx="2795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eateland" panose="02000500000000000000" pitchFamily="50" charset="0"/>
                <a:cs typeface="Aharoni" panose="02010803020104030203" pitchFamily="2" charset="-79"/>
              </a:rPr>
              <a:t>2. Riesgos generales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992DEFD1-D5CD-E6C1-5BA4-4B04383030F8}"/>
              </a:ext>
            </a:extLst>
          </p:cNvPr>
          <p:cNvGrpSpPr/>
          <p:nvPr/>
        </p:nvGrpSpPr>
        <p:grpSpPr>
          <a:xfrm>
            <a:off x="11249771" y="89271"/>
            <a:ext cx="794235" cy="180000"/>
            <a:chOff x="11249771" y="89271"/>
            <a:chExt cx="794235" cy="180000"/>
          </a:xfrm>
        </p:grpSpPr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F4E04E1B-AF23-1B1E-182A-82BB3332B062}"/>
                </a:ext>
              </a:extLst>
            </p:cNvPr>
            <p:cNvSpPr/>
            <p:nvPr/>
          </p:nvSpPr>
          <p:spPr>
            <a:xfrm>
              <a:off x="11864006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C50B036B-5D2B-E316-B380-A1FAA14A8CA2}"/>
                </a:ext>
              </a:extLst>
            </p:cNvPr>
            <p:cNvSpPr/>
            <p:nvPr/>
          </p:nvSpPr>
          <p:spPr>
            <a:xfrm>
              <a:off x="11556888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BA33CAFF-9FC4-C54E-F0CC-9AA1D4E99852}"/>
                </a:ext>
              </a:extLst>
            </p:cNvPr>
            <p:cNvSpPr/>
            <p:nvPr/>
          </p:nvSpPr>
          <p:spPr>
            <a:xfrm>
              <a:off x="11249771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2E956CD-E587-EB6F-8F64-64630BD3244C}"/>
              </a:ext>
            </a:extLst>
          </p:cNvPr>
          <p:cNvSpPr/>
          <p:nvPr/>
        </p:nvSpPr>
        <p:spPr>
          <a:xfrm>
            <a:off x="1515649" y="1868410"/>
            <a:ext cx="219205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7BB0D129-9515-D2BD-5A93-B1E621FDAA6F}"/>
              </a:ext>
            </a:extLst>
          </p:cNvPr>
          <p:cNvGrpSpPr/>
          <p:nvPr/>
        </p:nvGrpSpPr>
        <p:grpSpPr>
          <a:xfrm>
            <a:off x="4379934" y="512251"/>
            <a:ext cx="7664071" cy="3195227"/>
            <a:chOff x="4411247" y="528133"/>
            <a:chExt cx="7632759" cy="2678530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213AA78E-4000-EE82-1756-038AB9BD69D1}"/>
                </a:ext>
              </a:extLst>
            </p:cNvPr>
            <p:cNvSpPr/>
            <p:nvPr/>
          </p:nvSpPr>
          <p:spPr>
            <a:xfrm>
              <a:off x="4411247" y="706676"/>
              <a:ext cx="7632759" cy="24999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1CCDA36B-0CF0-11A5-CA2A-87ACA44BF811}"/>
                </a:ext>
              </a:extLst>
            </p:cNvPr>
            <p:cNvSpPr/>
            <p:nvPr/>
          </p:nvSpPr>
          <p:spPr>
            <a:xfrm>
              <a:off x="4411247" y="528133"/>
              <a:ext cx="7632759" cy="178543"/>
            </a:xfrm>
            <a:prstGeom prst="rect">
              <a:avLst/>
            </a:prstGeom>
            <a:solidFill>
              <a:srgbClr val="E8CBFF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13" name="TextBox 23">
            <a:extLst>
              <a:ext uri="{FF2B5EF4-FFF2-40B4-BE49-F238E27FC236}">
                <a16:creationId xmlns:a16="http://schemas.microsoft.com/office/drawing/2014/main" id="{48D6B956-FF2F-6F7A-3C48-702FD352D2CD}"/>
              </a:ext>
            </a:extLst>
          </p:cNvPr>
          <p:cNvSpPr txBox="1"/>
          <p:nvPr/>
        </p:nvSpPr>
        <p:spPr>
          <a:xfrm>
            <a:off x="4910616" y="1329801"/>
            <a:ext cx="79287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altLang="ko-KR" sz="1600" dirty="0">
                <a:latin typeface="Arial"/>
                <a:cs typeface="Arial" pitchFamily="34" charset="0"/>
              </a:rPr>
              <a:t>Riesgo de quemaduras por el uso del mechero o material caliente.</a:t>
            </a:r>
          </a:p>
          <a:p>
            <a:pPr algn="ctr"/>
            <a:r>
              <a:rPr lang="es-MX" altLang="ko-KR" sz="1600" dirty="0">
                <a:latin typeface="Arial"/>
                <a:cs typeface="Arial" pitchFamily="34" charset="0"/>
              </a:rPr>
              <a:t>Riesgo de inhalación leve de gases liberados (CO₂).</a:t>
            </a:r>
          </a:p>
          <a:p>
            <a:pPr algn="ctr"/>
            <a:r>
              <a:rPr lang="es-MX" altLang="ko-KR" sz="1600" dirty="0">
                <a:latin typeface="Arial"/>
                <a:cs typeface="Arial" pitchFamily="34" charset="0"/>
              </a:rPr>
              <a:t>Riesgo de contacto con vidriería caliente o rota.</a:t>
            </a:r>
          </a:p>
          <a:p>
            <a:pPr algn="ctr"/>
            <a:endParaRPr lang="es-MX" altLang="ko-KR" sz="1600" dirty="0">
              <a:latin typeface="Arial"/>
              <a:cs typeface="Arial" pitchFamily="34" charset="0"/>
            </a:endParaRP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B78091F9-6E93-4173-88B5-9049C4270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444" y="4688578"/>
            <a:ext cx="2295525" cy="200025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422F7382-45DD-46FC-BFBA-5CD577B1E1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923" y="2510673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92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CC54D889-2E82-39E8-55BD-3CE9719EEFE8}"/>
              </a:ext>
            </a:extLst>
          </p:cNvPr>
          <p:cNvSpPr/>
          <p:nvPr/>
        </p:nvSpPr>
        <p:spPr>
          <a:xfrm>
            <a:off x="237994" y="378912"/>
            <a:ext cx="3056351" cy="5633581"/>
          </a:xfrm>
          <a:prstGeom prst="rect">
            <a:avLst/>
          </a:prstGeom>
          <a:solidFill>
            <a:srgbClr val="FFF5E4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78DDEB7-2B33-931E-593C-ED38E65CDF6C}"/>
              </a:ext>
            </a:extLst>
          </p:cNvPr>
          <p:cNvSpPr/>
          <p:nvPr/>
        </p:nvSpPr>
        <p:spPr>
          <a:xfrm>
            <a:off x="528181" y="706676"/>
            <a:ext cx="3056351" cy="5633581"/>
          </a:xfrm>
          <a:prstGeom prst="rect">
            <a:avLst/>
          </a:prstGeom>
          <a:solidFill>
            <a:srgbClr val="FFFFFF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26F6CC3-91BD-41C6-844C-66B225A1EB10}"/>
              </a:ext>
            </a:extLst>
          </p:cNvPr>
          <p:cNvSpPr/>
          <p:nvPr/>
        </p:nvSpPr>
        <p:spPr>
          <a:xfrm>
            <a:off x="941539" y="1034440"/>
            <a:ext cx="3056351" cy="5633581"/>
          </a:xfrm>
          <a:prstGeom prst="rect">
            <a:avLst/>
          </a:prstGeom>
          <a:solidFill>
            <a:srgbClr val="FFD1D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43313C5-8ACB-94CB-6E87-6CED1AA4E92D}"/>
              </a:ext>
            </a:extLst>
          </p:cNvPr>
          <p:cNvSpPr/>
          <p:nvPr/>
        </p:nvSpPr>
        <p:spPr>
          <a:xfrm>
            <a:off x="237994" y="212942"/>
            <a:ext cx="3056351" cy="165970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6985D5E-FDE7-142C-E6E9-899AC617A1FF}"/>
              </a:ext>
            </a:extLst>
          </p:cNvPr>
          <p:cNvSpPr/>
          <p:nvPr/>
        </p:nvSpPr>
        <p:spPr>
          <a:xfrm>
            <a:off x="528181" y="540706"/>
            <a:ext cx="3056351" cy="165970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E46E7FE-675D-07A5-C180-F1F0999DD5C7}"/>
              </a:ext>
            </a:extLst>
          </p:cNvPr>
          <p:cNvSpPr/>
          <p:nvPr/>
        </p:nvSpPr>
        <p:spPr>
          <a:xfrm>
            <a:off x="941538" y="868470"/>
            <a:ext cx="3056351" cy="165970"/>
          </a:xfrm>
          <a:prstGeom prst="rect">
            <a:avLst/>
          </a:prstGeom>
          <a:solidFill>
            <a:srgbClr val="FFE3E1"/>
          </a:solidFill>
          <a:ln w="28575"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717E48D-67A1-557B-AB81-C41293AA1A34}"/>
              </a:ext>
            </a:extLst>
          </p:cNvPr>
          <p:cNvSpPr/>
          <p:nvPr/>
        </p:nvSpPr>
        <p:spPr>
          <a:xfrm>
            <a:off x="651351" y="845507"/>
            <a:ext cx="123170" cy="4747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D034675-EED6-7996-EA2C-5C0563264097}"/>
              </a:ext>
            </a:extLst>
          </p:cNvPr>
          <p:cNvSpPr/>
          <p:nvPr/>
        </p:nvSpPr>
        <p:spPr>
          <a:xfrm>
            <a:off x="329846" y="540706"/>
            <a:ext cx="123170" cy="4747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EEC3ADC-8675-BFFE-8D03-8BD69EAE6393}"/>
              </a:ext>
            </a:extLst>
          </p:cNvPr>
          <p:cNvSpPr/>
          <p:nvPr/>
        </p:nvSpPr>
        <p:spPr>
          <a:xfrm>
            <a:off x="1064709" y="1149522"/>
            <a:ext cx="123170" cy="4747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0BC662B-1A12-7565-8327-B2B63709B48E}"/>
              </a:ext>
            </a:extLst>
          </p:cNvPr>
          <p:cNvSpPr txBox="1"/>
          <p:nvPr/>
        </p:nvSpPr>
        <p:spPr>
          <a:xfrm>
            <a:off x="975981" y="5947962"/>
            <a:ext cx="3006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25CE204-04E9-1513-E858-EDAA3CDB8901}"/>
              </a:ext>
            </a:extLst>
          </p:cNvPr>
          <p:cNvSpPr txBox="1"/>
          <p:nvPr/>
        </p:nvSpPr>
        <p:spPr>
          <a:xfrm>
            <a:off x="576189" y="5602888"/>
            <a:ext cx="3006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C53CA66-D9B6-8B06-AA59-A173FA29FBB4}"/>
              </a:ext>
            </a:extLst>
          </p:cNvPr>
          <p:cNvSpPr txBox="1"/>
          <p:nvPr/>
        </p:nvSpPr>
        <p:spPr>
          <a:xfrm>
            <a:off x="227556" y="5288593"/>
            <a:ext cx="3006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3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</a:t>
            </a:r>
          </a:p>
        </p:txBody>
      </p:sp>
      <p:pic>
        <p:nvPicPr>
          <p:cNvPr id="39" name="Picture 2" descr="Icono Del Cursor Del Ratón, Símbolo De La Muestra De La Flecha Del Pixel  Ilustración del Vector - Ilustración de objeto, asimiento: 151440288">
            <a:extLst>
              <a:ext uri="{FF2B5EF4-FFF2-40B4-BE49-F238E27FC236}">
                <a16:creationId xmlns:a16="http://schemas.microsoft.com/office/drawing/2014/main" id="{786CDB7F-D92A-C106-7260-C3DCD989D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50" b="92250" l="10000" r="90000">
                        <a14:foregroundMark x1="26875" y1="6250" x2="26875" y2="6250"/>
                        <a14:foregroundMark x1="21625" y1="22250" x2="21625" y2="22250"/>
                        <a14:foregroundMark x1="36500" y1="17500" x2="36500" y2="17500"/>
                        <a14:foregroundMark x1="55125" y1="35250" x2="55125" y2="35250"/>
                        <a14:foregroundMark x1="70125" y1="51000" x2="70125" y2="51000"/>
                        <a14:foregroundMark x1="51375" y1="33375" x2="51375" y2="33375"/>
                        <a14:foregroundMark x1="66375" y1="63500" x2="66375" y2="63500"/>
                        <a14:foregroundMark x1="59875" y1="39500" x2="59875" y2="39500"/>
                        <a14:foregroundMark x1="63625" y1="44875" x2="63625" y2="44875"/>
                        <a14:foregroundMark x1="78500" y1="60250" x2="78500" y2="60250"/>
                        <a14:foregroundMark x1="59750" y1="74750" x2="59750" y2="74750"/>
                        <a14:foregroundMark x1="63000" y1="84750" x2="63625" y2="85125"/>
                        <a14:foregroundMark x1="58875" y1="92250" x2="58875" y2="92250"/>
                        <a14:foregroundMark x1="51125" y1="88750" x2="51125" y2="88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606" y="1196233"/>
            <a:ext cx="569930" cy="50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upo 41">
            <a:extLst>
              <a:ext uri="{FF2B5EF4-FFF2-40B4-BE49-F238E27FC236}">
                <a16:creationId xmlns:a16="http://schemas.microsoft.com/office/drawing/2014/main" id="{23244D42-4DA8-EBFA-00D7-245468468756}"/>
              </a:ext>
            </a:extLst>
          </p:cNvPr>
          <p:cNvGrpSpPr/>
          <p:nvPr/>
        </p:nvGrpSpPr>
        <p:grpSpPr>
          <a:xfrm>
            <a:off x="8420325" y="1451197"/>
            <a:ext cx="3771675" cy="5461385"/>
            <a:chOff x="8420325" y="1451197"/>
            <a:chExt cx="3771675" cy="5461385"/>
          </a:xfrm>
        </p:grpSpPr>
        <p:pic>
          <p:nvPicPr>
            <p:cNvPr id="40" name="Picture 12" descr="yokogeijutsu-blog - Tumblr blog | Tumpik">
              <a:extLst>
                <a:ext uri="{FF2B5EF4-FFF2-40B4-BE49-F238E27FC236}">
                  <a16:creationId xmlns:a16="http://schemas.microsoft.com/office/drawing/2014/main" id="{E9808471-FA4D-3450-9281-A3BCB2A2F6B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 bwMode="auto">
            <a:xfrm>
              <a:off x="8420325" y="1451197"/>
              <a:ext cx="3771675" cy="54613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634A53CF-CA33-DDB2-3758-E769A410A988}"/>
                </a:ext>
              </a:extLst>
            </p:cNvPr>
            <p:cNvSpPr/>
            <p:nvPr/>
          </p:nvSpPr>
          <p:spPr>
            <a:xfrm>
              <a:off x="9469677" y="2229633"/>
              <a:ext cx="2484329" cy="3459070"/>
            </a:xfrm>
            <a:prstGeom prst="rect">
              <a:avLst/>
            </a:prstGeom>
            <a:solidFill>
              <a:srgbClr val="C2DAE6"/>
            </a:solidFill>
            <a:ln>
              <a:solidFill>
                <a:srgbClr val="FCFB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A2D1D86-5F37-D5CE-4979-201D5082E673}"/>
              </a:ext>
            </a:extLst>
          </p:cNvPr>
          <p:cNvSpPr txBox="1"/>
          <p:nvPr/>
        </p:nvSpPr>
        <p:spPr>
          <a:xfrm>
            <a:off x="1126293" y="1098969"/>
            <a:ext cx="2795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altLang="ko-KR" sz="1400" dirty="0">
                <a:latin typeface="Arial"/>
                <a:cs typeface="Arial" pitchFamily="34" charset="0"/>
              </a:rPr>
              <a:t>3. Equipo de protección personal (EPP)</a:t>
            </a:r>
            <a:endParaRPr lang="es-MX" sz="1400" dirty="0">
              <a:latin typeface="Createland" panose="02000500000000000000" pitchFamily="50" charset="0"/>
              <a:cs typeface="Aharoni" panose="02010803020104030203" pitchFamily="2" charset="-79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E73D891-FAE9-C8BA-F19D-6A9C97E6719A}"/>
              </a:ext>
            </a:extLst>
          </p:cNvPr>
          <p:cNvSpPr/>
          <p:nvPr/>
        </p:nvSpPr>
        <p:spPr>
          <a:xfrm>
            <a:off x="3584532" y="0"/>
            <a:ext cx="8607468" cy="358543"/>
          </a:xfrm>
          <a:prstGeom prst="rect">
            <a:avLst/>
          </a:prstGeom>
          <a:gradFill flip="none" rotWithShape="1">
            <a:gsLst>
              <a:gs pos="0">
                <a:srgbClr val="FFF5E4"/>
              </a:gs>
              <a:gs pos="62000">
                <a:srgbClr val="FFC9C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C5550B68-130E-B49A-CCBF-59A480C101E8}"/>
              </a:ext>
            </a:extLst>
          </p:cNvPr>
          <p:cNvGrpSpPr/>
          <p:nvPr/>
        </p:nvGrpSpPr>
        <p:grpSpPr>
          <a:xfrm>
            <a:off x="11249771" y="89271"/>
            <a:ext cx="794235" cy="180000"/>
            <a:chOff x="11249771" y="89271"/>
            <a:chExt cx="794235" cy="180000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C2748068-91B6-9ADB-E5E1-6D4C17011E45}"/>
                </a:ext>
              </a:extLst>
            </p:cNvPr>
            <p:cNvSpPr/>
            <p:nvPr/>
          </p:nvSpPr>
          <p:spPr>
            <a:xfrm>
              <a:off x="11864006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4E64220A-466F-1856-9D65-0C55E88DAC7F}"/>
                </a:ext>
              </a:extLst>
            </p:cNvPr>
            <p:cNvSpPr/>
            <p:nvPr/>
          </p:nvSpPr>
          <p:spPr>
            <a:xfrm>
              <a:off x="11556888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CC1B9F7D-55C9-E192-C416-3DAAFA569A26}"/>
                </a:ext>
              </a:extLst>
            </p:cNvPr>
            <p:cNvSpPr/>
            <p:nvPr/>
          </p:nvSpPr>
          <p:spPr>
            <a:xfrm>
              <a:off x="11249771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9" name="Rectángulo 48">
            <a:extLst>
              <a:ext uri="{FF2B5EF4-FFF2-40B4-BE49-F238E27FC236}">
                <a16:creationId xmlns:a16="http://schemas.microsoft.com/office/drawing/2014/main" id="{49D7704A-B5EE-F1DE-217D-D32797996657}"/>
              </a:ext>
            </a:extLst>
          </p:cNvPr>
          <p:cNvSpPr/>
          <p:nvPr/>
        </p:nvSpPr>
        <p:spPr>
          <a:xfrm>
            <a:off x="1515649" y="1868410"/>
            <a:ext cx="219205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96730E50-430C-CF36-EBD3-D1B594024D73}"/>
              </a:ext>
            </a:extLst>
          </p:cNvPr>
          <p:cNvGrpSpPr/>
          <p:nvPr/>
        </p:nvGrpSpPr>
        <p:grpSpPr>
          <a:xfrm>
            <a:off x="4411246" y="540707"/>
            <a:ext cx="4009078" cy="6127314"/>
            <a:chOff x="4411247" y="528133"/>
            <a:chExt cx="7632759" cy="2678530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01D07F0A-32A2-D98B-D1A1-7DFBE929BC25}"/>
                </a:ext>
              </a:extLst>
            </p:cNvPr>
            <p:cNvSpPr/>
            <p:nvPr/>
          </p:nvSpPr>
          <p:spPr>
            <a:xfrm>
              <a:off x="4411247" y="706676"/>
              <a:ext cx="7632759" cy="24999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E414C51A-B5F5-C944-D784-941309EB82F6}"/>
                </a:ext>
              </a:extLst>
            </p:cNvPr>
            <p:cNvSpPr/>
            <p:nvPr/>
          </p:nvSpPr>
          <p:spPr>
            <a:xfrm>
              <a:off x="4411247" y="528133"/>
              <a:ext cx="7632759" cy="178543"/>
            </a:xfrm>
            <a:prstGeom prst="rect">
              <a:avLst/>
            </a:prstGeom>
            <a:solidFill>
              <a:srgbClr val="E8CBFF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5" name="TextBox 23">
            <a:extLst>
              <a:ext uri="{FF2B5EF4-FFF2-40B4-BE49-F238E27FC236}">
                <a16:creationId xmlns:a16="http://schemas.microsoft.com/office/drawing/2014/main" id="{B54464C7-DB62-3B87-0897-DC1F76188FC1}"/>
              </a:ext>
            </a:extLst>
          </p:cNvPr>
          <p:cNvSpPr txBox="1"/>
          <p:nvPr/>
        </p:nvSpPr>
        <p:spPr>
          <a:xfrm>
            <a:off x="1064708" y="2174498"/>
            <a:ext cx="26500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altLang="ko-KR" dirty="0">
                <a:latin typeface="Arial"/>
                <a:cs typeface="Arial" pitchFamily="34" charset="0"/>
              </a:rPr>
              <a:t>Bata de laboratorio.</a:t>
            </a:r>
          </a:p>
          <a:p>
            <a:pPr algn="ctr"/>
            <a:r>
              <a:rPr lang="es-MX" altLang="ko-KR" dirty="0">
                <a:latin typeface="Arial"/>
                <a:cs typeface="Arial" pitchFamily="34" charset="0"/>
              </a:rPr>
              <a:t>Gafas de seguridad.</a:t>
            </a:r>
          </a:p>
          <a:p>
            <a:pPr algn="ctr"/>
            <a:r>
              <a:rPr lang="es-MX" altLang="ko-KR" dirty="0">
                <a:latin typeface="Arial"/>
                <a:cs typeface="Arial" pitchFamily="34" charset="0"/>
              </a:rPr>
              <a:t>Guantes térmicos o de protección.</a:t>
            </a:r>
          </a:p>
          <a:p>
            <a:pPr algn="ctr"/>
            <a:r>
              <a:rPr lang="es-MX" altLang="ko-KR" dirty="0">
                <a:latin typeface="Arial"/>
                <a:cs typeface="Arial" pitchFamily="34" charset="0"/>
              </a:rPr>
              <a:t>Pinzas para manejar recipientes calientes.</a:t>
            </a:r>
          </a:p>
          <a:p>
            <a:pPr algn="ctr"/>
            <a:r>
              <a:rPr lang="es-MX" altLang="ko-KR" dirty="0">
                <a:latin typeface="Arial"/>
                <a:cs typeface="Arial" pitchFamily="34" charset="0"/>
              </a:rPr>
              <a:t>Zapatos cerrados y cabello recogido.</a:t>
            </a: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554BC3EA-C837-61BA-33EF-9061EDEA2624}"/>
              </a:ext>
            </a:extLst>
          </p:cNvPr>
          <p:cNvSpPr txBox="1"/>
          <p:nvPr/>
        </p:nvSpPr>
        <p:spPr>
          <a:xfrm>
            <a:off x="4950536" y="1196233"/>
            <a:ext cx="29486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altLang="ko-KR" sz="1600" b="1" u="sng" dirty="0">
                <a:latin typeface="Arial"/>
                <a:cs typeface="Arial" pitchFamily="34" charset="0"/>
              </a:rPr>
              <a:t>4. Medidas preventivas</a:t>
            </a:r>
          </a:p>
          <a:p>
            <a:pPr algn="ctr"/>
            <a:r>
              <a:rPr lang="es-MX" altLang="ko-KR" sz="1600" dirty="0">
                <a:latin typeface="Arial"/>
                <a:cs typeface="Arial" pitchFamily="34" charset="0"/>
              </a:rPr>
              <a:t>No tocar tubos o crisoles recién calentados.</a:t>
            </a:r>
          </a:p>
          <a:p>
            <a:pPr algn="ctr"/>
            <a:r>
              <a:rPr lang="es-MX" altLang="ko-KR" sz="1600" dirty="0">
                <a:latin typeface="Arial"/>
                <a:cs typeface="Arial" pitchFamily="34" charset="0"/>
              </a:rPr>
              <a:t>No inhalar directamente los gases producidos.</a:t>
            </a:r>
          </a:p>
          <a:p>
            <a:pPr algn="ctr"/>
            <a:r>
              <a:rPr lang="es-MX" altLang="ko-KR" sz="1600" dirty="0">
                <a:latin typeface="Arial"/>
                <a:cs typeface="Arial" pitchFamily="34" charset="0"/>
              </a:rPr>
              <a:t>Mantener el área limpia y sin materiales inflamables cerca del mechero.</a:t>
            </a:r>
          </a:p>
          <a:p>
            <a:pPr algn="ctr"/>
            <a:r>
              <a:rPr lang="es-MX" altLang="ko-KR" sz="1600" dirty="0">
                <a:latin typeface="Arial"/>
                <a:cs typeface="Arial" pitchFamily="34" charset="0"/>
              </a:rPr>
              <a:t>Asegurarse de que los instrumentos estén secos antes de calentar.</a:t>
            </a:r>
          </a:p>
          <a:p>
            <a:pPr algn="ctr"/>
            <a:r>
              <a:rPr lang="es-MX" altLang="ko-KR" sz="1600" dirty="0">
                <a:latin typeface="Arial"/>
                <a:cs typeface="Arial" pitchFamily="34" charset="0"/>
              </a:rPr>
              <a:t>Conocer la ubicación del extintor, lavaojos y ducha de emergencia.</a:t>
            </a:r>
          </a:p>
        </p:txBody>
      </p:sp>
    </p:spTree>
    <p:extLst>
      <p:ext uri="{BB962C8B-B14F-4D97-AF65-F5344CB8AC3E}">
        <p14:creationId xmlns:p14="http://schemas.microsoft.com/office/powerpoint/2010/main" val="2316518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83827396-7751-6112-AB8B-11664215BEF8}"/>
              </a:ext>
            </a:extLst>
          </p:cNvPr>
          <p:cNvGrpSpPr/>
          <p:nvPr/>
        </p:nvGrpSpPr>
        <p:grpSpPr>
          <a:xfrm>
            <a:off x="363255" y="263047"/>
            <a:ext cx="2968669" cy="5540678"/>
            <a:chOff x="4411247" y="528133"/>
            <a:chExt cx="7632759" cy="267853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95501AB-C1F4-0AC9-6DAF-43A3E8B64923}"/>
                </a:ext>
              </a:extLst>
            </p:cNvPr>
            <p:cNvSpPr/>
            <p:nvPr/>
          </p:nvSpPr>
          <p:spPr>
            <a:xfrm>
              <a:off x="4411247" y="706676"/>
              <a:ext cx="7632759" cy="24999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9A2D7A7-56B2-7D8F-1153-5FBC9BA7EA67}"/>
                </a:ext>
              </a:extLst>
            </p:cNvPr>
            <p:cNvSpPr/>
            <p:nvPr/>
          </p:nvSpPr>
          <p:spPr>
            <a:xfrm>
              <a:off x="4411247" y="528133"/>
              <a:ext cx="7632759" cy="178543"/>
            </a:xfrm>
            <a:prstGeom prst="rect">
              <a:avLst/>
            </a:prstGeom>
            <a:solidFill>
              <a:srgbClr val="E8CBFF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19" name="Picture 10" descr="yokogeijutsu-blog - Tumblr blog | Tumpik">
            <a:extLst>
              <a:ext uri="{FF2B5EF4-FFF2-40B4-BE49-F238E27FC236}">
                <a16:creationId xmlns:a16="http://schemas.microsoft.com/office/drawing/2014/main" id="{CFF6F6EE-CD82-A84D-9A95-AD2A5B8AD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219" y="2771775"/>
            <a:ext cx="514350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yokogeijutsu-blog - Tumblr blog | Tumpik">
            <a:extLst>
              <a:ext uri="{FF2B5EF4-FFF2-40B4-BE49-F238E27FC236}">
                <a16:creationId xmlns:a16="http://schemas.microsoft.com/office/drawing/2014/main" id="{A27DA814-EF3D-314B-EC69-A4AB6A1F70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63" b="20228"/>
          <a:stretch/>
        </p:blipFill>
        <p:spPr bwMode="auto">
          <a:xfrm>
            <a:off x="7805799" y="776808"/>
            <a:ext cx="4121734" cy="246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A6AAB3E0-0E81-5FCD-02D4-CD2F08E3BE2F}"/>
              </a:ext>
            </a:extLst>
          </p:cNvPr>
          <p:cNvGrpSpPr/>
          <p:nvPr/>
        </p:nvGrpSpPr>
        <p:grpSpPr>
          <a:xfrm>
            <a:off x="2645076" y="1054275"/>
            <a:ext cx="3254683" cy="5390365"/>
            <a:chOff x="4411247" y="528133"/>
            <a:chExt cx="7632759" cy="2678530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D6A04A8-E8B4-6AEB-A18D-10BCA153921A}"/>
                </a:ext>
              </a:extLst>
            </p:cNvPr>
            <p:cNvSpPr/>
            <p:nvPr/>
          </p:nvSpPr>
          <p:spPr>
            <a:xfrm>
              <a:off x="4411247" y="706676"/>
              <a:ext cx="7632759" cy="24999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73C5EFC-4A91-5517-FE16-FA81C4674DB4}"/>
                </a:ext>
              </a:extLst>
            </p:cNvPr>
            <p:cNvSpPr/>
            <p:nvPr/>
          </p:nvSpPr>
          <p:spPr>
            <a:xfrm>
              <a:off x="4411247" y="528133"/>
              <a:ext cx="7632759" cy="178543"/>
            </a:xfrm>
            <a:prstGeom prst="rect">
              <a:avLst/>
            </a:prstGeom>
            <a:solidFill>
              <a:srgbClr val="E8CBFF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D392CFA3-9A99-12E1-ACE8-2FAD407DCF21}"/>
              </a:ext>
            </a:extLst>
          </p:cNvPr>
          <p:cNvGrpSpPr/>
          <p:nvPr/>
        </p:nvGrpSpPr>
        <p:grpSpPr>
          <a:xfrm>
            <a:off x="5237964" y="413360"/>
            <a:ext cx="3622114" cy="5761972"/>
            <a:chOff x="4411247" y="528133"/>
            <a:chExt cx="7632759" cy="267853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FA2A5147-8B03-F77B-BE13-83BEB96EB591}"/>
                </a:ext>
              </a:extLst>
            </p:cNvPr>
            <p:cNvSpPr/>
            <p:nvPr/>
          </p:nvSpPr>
          <p:spPr>
            <a:xfrm>
              <a:off x="4411247" y="706676"/>
              <a:ext cx="7632759" cy="24999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4D61B7D-7C99-796E-14C3-6D408FF8F325}"/>
                </a:ext>
              </a:extLst>
            </p:cNvPr>
            <p:cNvSpPr/>
            <p:nvPr/>
          </p:nvSpPr>
          <p:spPr>
            <a:xfrm>
              <a:off x="4411247" y="528133"/>
              <a:ext cx="7632759" cy="178543"/>
            </a:xfrm>
            <a:prstGeom prst="rect">
              <a:avLst/>
            </a:prstGeom>
            <a:solidFill>
              <a:srgbClr val="E8CBFF"/>
            </a:solidFill>
            <a:ln w="28575">
              <a:solidFill>
                <a:srgbClr val="696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1EE2A1-B2C3-E324-E6E9-7A8827F1D305}"/>
              </a:ext>
            </a:extLst>
          </p:cNvPr>
          <p:cNvSpPr/>
          <p:nvPr/>
        </p:nvSpPr>
        <p:spPr>
          <a:xfrm>
            <a:off x="3584532" y="0"/>
            <a:ext cx="8607468" cy="358543"/>
          </a:xfrm>
          <a:prstGeom prst="rect">
            <a:avLst/>
          </a:prstGeom>
          <a:gradFill flip="none" rotWithShape="1">
            <a:gsLst>
              <a:gs pos="0">
                <a:srgbClr val="FFF5E4"/>
              </a:gs>
              <a:gs pos="62000">
                <a:srgbClr val="FFC9C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25F79EE-AAB1-8116-AAC6-7F286CDC6FC2}"/>
              </a:ext>
            </a:extLst>
          </p:cNvPr>
          <p:cNvSpPr/>
          <p:nvPr/>
        </p:nvSpPr>
        <p:spPr>
          <a:xfrm>
            <a:off x="363255" y="2530258"/>
            <a:ext cx="2281821" cy="369325"/>
          </a:xfrm>
          <a:prstGeom prst="rect">
            <a:avLst/>
          </a:prstGeom>
          <a:solidFill>
            <a:srgbClr val="E8CBFF"/>
          </a:solidFill>
          <a:ln>
            <a:solidFill>
              <a:srgbClr val="696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FA2C91A7-8382-C715-17B9-C12401C9AE17}"/>
              </a:ext>
            </a:extLst>
          </p:cNvPr>
          <p:cNvGrpSpPr/>
          <p:nvPr/>
        </p:nvGrpSpPr>
        <p:grpSpPr>
          <a:xfrm>
            <a:off x="11249771" y="89271"/>
            <a:ext cx="794235" cy="180000"/>
            <a:chOff x="11249771" y="89271"/>
            <a:chExt cx="794235" cy="180000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A0A46D2F-24B8-9A19-1407-A17F9677F0A4}"/>
                </a:ext>
              </a:extLst>
            </p:cNvPr>
            <p:cNvSpPr/>
            <p:nvPr/>
          </p:nvSpPr>
          <p:spPr>
            <a:xfrm>
              <a:off x="11864006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82130CBA-5B39-C478-BCC5-B114588F0029}"/>
                </a:ext>
              </a:extLst>
            </p:cNvPr>
            <p:cNvSpPr/>
            <p:nvPr/>
          </p:nvSpPr>
          <p:spPr>
            <a:xfrm>
              <a:off x="11556888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C7901E5E-5AC5-7FD0-1BFF-5A25B30BB714}"/>
                </a:ext>
              </a:extLst>
            </p:cNvPr>
            <p:cNvSpPr/>
            <p:nvPr/>
          </p:nvSpPr>
          <p:spPr>
            <a:xfrm>
              <a:off x="11249771" y="89271"/>
              <a:ext cx="180000" cy="180000"/>
            </a:xfrm>
            <a:prstGeom prst="rect">
              <a:avLst/>
            </a:prstGeom>
            <a:solidFill>
              <a:srgbClr val="6965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001320CC-9D52-137D-0FB3-9E34C1A8C90A}"/>
              </a:ext>
            </a:extLst>
          </p:cNvPr>
          <p:cNvGrpSpPr/>
          <p:nvPr/>
        </p:nvGrpSpPr>
        <p:grpSpPr>
          <a:xfrm>
            <a:off x="2804711" y="3349139"/>
            <a:ext cx="2226573" cy="1790786"/>
            <a:chOff x="1672777" y="3043705"/>
            <a:chExt cx="2978736" cy="512362"/>
          </a:xfrm>
        </p:grpSpPr>
        <p:sp>
          <p:nvSpPr>
            <p:cNvPr id="28" name="TextBox 23">
              <a:extLst>
                <a:ext uri="{FF2B5EF4-FFF2-40B4-BE49-F238E27FC236}">
                  <a16:creationId xmlns:a16="http://schemas.microsoft.com/office/drawing/2014/main" id="{0CD42F84-0CCF-C767-CA01-0ECE20F54081}"/>
                </a:ext>
              </a:extLst>
            </p:cNvPr>
            <p:cNvSpPr txBox="1"/>
            <p:nvPr/>
          </p:nvSpPr>
          <p:spPr>
            <a:xfrm>
              <a:off x="1672777" y="3043705"/>
              <a:ext cx="2978736" cy="167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MX" altLang="ko-KR" sz="1600" dirty="0">
                <a:latin typeface="Arial"/>
                <a:cs typeface="Arial" pitchFamily="34" charset="0"/>
              </a:endParaRPr>
            </a:p>
            <a:p>
              <a:pPr algn="ctr"/>
              <a:endParaRPr lang="es-MX" altLang="ko-KR" sz="1600" dirty="0">
                <a:latin typeface="Arial"/>
                <a:cs typeface="Arial" pitchFamily="34" charset="0"/>
              </a:endParaRPr>
            </a:p>
          </p:txBody>
        </p:sp>
        <p:sp>
          <p:nvSpPr>
            <p:cNvPr id="26" name="TextBox 23">
              <a:extLst>
                <a:ext uri="{FF2B5EF4-FFF2-40B4-BE49-F238E27FC236}">
                  <a16:creationId xmlns:a16="http://schemas.microsoft.com/office/drawing/2014/main" id="{E103EA98-8E23-D325-07DA-779C71A73575}"/>
                </a:ext>
              </a:extLst>
            </p:cNvPr>
            <p:cNvSpPr txBox="1"/>
            <p:nvPr/>
          </p:nvSpPr>
          <p:spPr>
            <a:xfrm>
              <a:off x="1672777" y="3459203"/>
              <a:ext cx="2978736" cy="96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MX" altLang="ko-KR" sz="1600" dirty="0">
                <a:latin typeface="Arial"/>
                <a:cs typeface="Arial" pitchFamily="34" charset="0"/>
              </a:endParaRPr>
            </a:p>
          </p:txBody>
        </p:sp>
      </p:grpSp>
      <p:sp>
        <p:nvSpPr>
          <p:cNvPr id="32" name="TextBox 23">
            <a:extLst>
              <a:ext uri="{FF2B5EF4-FFF2-40B4-BE49-F238E27FC236}">
                <a16:creationId xmlns:a16="http://schemas.microsoft.com/office/drawing/2014/main" id="{35380471-98EE-3AF3-4BF8-3A7DFF912695}"/>
              </a:ext>
            </a:extLst>
          </p:cNvPr>
          <p:cNvSpPr txBox="1"/>
          <p:nvPr/>
        </p:nvSpPr>
        <p:spPr>
          <a:xfrm>
            <a:off x="5608199" y="2968440"/>
            <a:ext cx="28558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altLang="ko-KR" sz="1600" b="1" u="sng" dirty="0">
                <a:latin typeface="Arial"/>
                <a:cs typeface="Arial" pitchFamily="34" charset="0"/>
              </a:rPr>
              <a:t>6. Botiquín básico</a:t>
            </a:r>
          </a:p>
          <a:p>
            <a:pPr algn="ctr"/>
            <a:r>
              <a:rPr lang="es-MX" altLang="ko-KR" sz="1600" dirty="0">
                <a:latin typeface="Arial"/>
                <a:cs typeface="Arial" pitchFamily="34" charset="0"/>
              </a:rPr>
              <a:t>Gasas, vendas, guantes, antiséptico, solución salina, tijeras y manual de primeros auxilios.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06CA3E6-C172-4AA1-9B94-E7EA0AEA759D}"/>
              </a:ext>
            </a:extLst>
          </p:cNvPr>
          <p:cNvSpPr txBox="1"/>
          <p:nvPr/>
        </p:nvSpPr>
        <p:spPr>
          <a:xfrm>
            <a:off x="2829299" y="1753767"/>
            <a:ext cx="23121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Primeros auxilios</a:t>
            </a:r>
          </a:p>
          <a:p>
            <a:r>
              <a:rPr lang="es-BO" dirty="0"/>
              <a:t>Quemaduras: Enfriar con agua corriente por varios minutos, no aplicar cremas.</a:t>
            </a:r>
          </a:p>
          <a:p>
            <a:r>
              <a:rPr lang="es-BO" dirty="0"/>
              <a:t>Inhalación de gases: Salir al aire fresco y avisar al profesor.</a:t>
            </a:r>
          </a:p>
          <a:p>
            <a:r>
              <a:rPr lang="es-BO" dirty="0"/>
              <a:t>Cortes por vidrios: Lavar con agua y jabón, cubrir con una gasa </a:t>
            </a:r>
            <a:r>
              <a:rPr lang="es-BO" dirty="0" err="1"/>
              <a:t>limpia.Incendio</a:t>
            </a:r>
            <a:r>
              <a:rPr lang="es-BO" dirty="0"/>
              <a:t>: </a:t>
            </a:r>
          </a:p>
          <a:p>
            <a:r>
              <a:rPr lang="es-BO" dirty="0"/>
              <a:t>Apagar el mechero y usar el extintor si es necesario.</a:t>
            </a:r>
          </a:p>
        </p:txBody>
      </p:sp>
    </p:spTree>
    <p:extLst>
      <p:ext uri="{BB962C8B-B14F-4D97-AF65-F5344CB8AC3E}">
        <p14:creationId xmlns:p14="http://schemas.microsoft.com/office/powerpoint/2010/main" val="2286988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274</Words>
  <Application>Microsoft Office PowerPoint</Application>
  <PresentationFormat>Panorámica</PresentationFormat>
  <Paragraphs>36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Aharoni</vt:lpstr>
      <vt:lpstr>Arial</vt:lpstr>
      <vt:lpstr>Calibri</vt:lpstr>
      <vt:lpstr>Calibri Light</vt:lpstr>
      <vt:lpstr>Createland</vt:lpstr>
      <vt:lpstr>Keep on Truckin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Dominguez Azamar Daniel</dc:creator>
  <cp:lastModifiedBy>Usuario</cp:lastModifiedBy>
  <cp:revision>7</cp:revision>
  <dcterms:created xsi:type="dcterms:W3CDTF">2022-10-14T01:51:57Z</dcterms:created>
  <dcterms:modified xsi:type="dcterms:W3CDTF">2025-10-28T20:49:54Z</dcterms:modified>
</cp:coreProperties>
</file>